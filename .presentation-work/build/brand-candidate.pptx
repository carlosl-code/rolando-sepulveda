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b1b443ecd7b46ce" /><Relationship Type="http://schemas.openxmlformats.org/officeDocument/2006/relationships/extended-properties" Target="/docProps/app.xml" Id="Rf09862fa955d40b3" /><Relationship Type="http://schemas.openxmlformats.org/officeDocument/2006/relationships/officeDocument" Target="/ppt/presentation.xml" Id="R04992ab1d81044f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8c4dd3643fe49a8"/>
  </p:sldMasterIdLst>
  <p:notesMasterIdLst>
    <p:notesMasterId xmlns:r="http://schemas.openxmlformats.org/officeDocument/2006/relationships" r:id="R97cf78edb6ba486a"/>
  </p:notesMasterIdLst>
  <p:sldIdLst>
    <p:sldId xmlns:r="http://schemas.openxmlformats.org/officeDocument/2006/relationships" id="256" r:id="R22c98a72af6c4443"/>
    <p:sldId xmlns:r="http://schemas.openxmlformats.org/officeDocument/2006/relationships" id="257" r:id="R655083095e3340d0"/>
    <p:sldId xmlns:r="http://schemas.openxmlformats.org/officeDocument/2006/relationships" id="258" r:id="R9be07c323ef84b1a"/>
    <p:sldId xmlns:r="http://schemas.openxmlformats.org/officeDocument/2006/relationships" id="259" r:id="Rad1f5273daef4a3c"/>
    <p:sldId xmlns:r="http://schemas.openxmlformats.org/officeDocument/2006/relationships" id="260" r:id="Rb72f0bf796e04cee"/>
    <p:sldId xmlns:r="http://schemas.openxmlformats.org/officeDocument/2006/relationships" id="261" r:id="R16b7fb2784db44ed"/>
    <p:sldId xmlns:r="http://schemas.openxmlformats.org/officeDocument/2006/relationships" id="262" r:id="R9fd577ba37034e15"/>
    <p:sldId xmlns:r="http://schemas.openxmlformats.org/officeDocument/2006/relationships" id="263" r:id="Rfe51c24b19dc4b9e"/>
    <p:sldId xmlns:r="http://schemas.openxmlformats.org/officeDocument/2006/relationships" id="264" r:id="R61fdf2f0ae5b4cc6"/>
    <p:sldId xmlns:r="http://schemas.openxmlformats.org/officeDocument/2006/relationships" id="265" r:id="Rc123df6962ad443d"/>
    <p:sldId xmlns:r="http://schemas.openxmlformats.org/officeDocument/2006/relationships" id="266" r:id="Ra5586b83895c4853"/>
    <p:sldId xmlns:r="http://schemas.openxmlformats.org/officeDocument/2006/relationships" id="267" r:id="Re4f03d96c355470e"/>
    <p:sldId xmlns:r="http://schemas.openxmlformats.org/officeDocument/2006/relationships" id="268" r:id="R077b0466f05f4430"/>
    <p:sldId xmlns:r="http://schemas.openxmlformats.org/officeDocument/2006/relationships" id="269" r:id="Rdf0951b345584819"/>
    <p:sldId xmlns:r="http://schemas.openxmlformats.org/officeDocument/2006/relationships" id="270" r:id="R6589ead6fd54478b"/>
    <p:sldId xmlns:r="http://schemas.openxmlformats.org/officeDocument/2006/relationships" id="271" r:id="R8df22be9e9324f7b"/>
    <p:sldId xmlns:r="http://schemas.openxmlformats.org/officeDocument/2006/relationships" id="272" r:id="Rb929fee867234f16"/>
    <p:sldId xmlns:r="http://schemas.openxmlformats.org/officeDocument/2006/relationships" id="273" r:id="R9280776050914651"/>
    <p:sldId xmlns:r="http://schemas.openxmlformats.org/officeDocument/2006/relationships" id="274" r:id="R0c0195d3d90648f6"/>
    <p:sldId xmlns:r="http://schemas.openxmlformats.org/officeDocument/2006/relationships" id="275" r:id="Rb78f5a59265a4d25"/>
    <p:sldId xmlns:r="http://schemas.openxmlformats.org/officeDocument/2006/relationships" id="276" r:id="Rc0c1d7327b6e4278"/>
  </p:sldIdLst>
  <p:sldSz cx="1219169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706fdfe9f354a5b" /><Relationship Type="http://schemas.openxmlformats.org/officeDocument/2006/relationships/slideMaster" Target="/ppt/slideMasters/slideMaster1.xml" Id="R88c4dd3643fe49a8" /><Relationship Type="http://schemas.openxmlformats.org/officeDocument/2006/relationships/notesMaster" Target="/ppt/notesMasters/notesMaster1.xml" Id="R97cf78edb6ba486a" /><Relationship Type="http://schemas.openxmlformats.org/officeDocument/2006/relationships/presProps" Target="/ppt/presProps.xml" Id="Rebfb17487a674837" /><Relationship Type="http://schemas.openxmlformats.org/officeDocument/2006/relationships/viewProps" Target="/ppt/viewProps.xml" Id="R70d7a69f797345de" /><Relationship Type="http://schemas.openxmlformats.org/officeDocument/2006/relationships/tableStyles" Target="/ppt/tableStyles.xml" Id="Rdf3862df78e04e2d" /><Relationship Type="http://schemas.openxmlformats.org/officeDocument/2006/relationships/slide" Target="/ppt/slides/slide1.xml" Id="R22c98a72af6c4443" /><Relationship Type="http://schemas.openxmlformats.org/officeDocument/2006/relationships/slide" Target="/ppt/slides/slide2.xml" Id="R655083095e3340d0" /><Relationship Type="http://schemas.openxmlformats.org/officeDocument/2006/relationships/slide" Target="/ppt/slides/slide3.xml" Id="R9be07c323ef84b1a" /><Relationship Type="http://schemas.openxmlformats.org/officeDocument/2006/relationships/slide" Target="/ppt/slides/slide4.xml" Id="Rad1f5273daef4a3c" /><Relationship Type="http://schemas.openxmlformats.org/officeDocument/2006/relationships/slide" Target="/ppt/slides/slide5.xml" Id="Rb72f0bf796e04cee" /><Relationship Type="http://schemas.openxmlformats.org/officeDocument/2006/relationships/slide" Target="/ppt/slides/slide6.xml" Id="R16b7fb2784db44ed" /><Relationship Type="http://schemas.openxmlformats.org/officeDocument/2006/relationships/slide" Target="/ppt/slides/slide7.xml" Id="R9fd577ba37034e15" /><Relationship Type="http://schemas.openxmlformats.org/officeDocument/2006/relationships/slide" Target="/ppt/slides/slide8.xml" Id="Rfe51c24b19dc4b9e" /><Relationship Type="http://schemas.openxmlformats.org/officeDocument/2006/relationships/slide" Target="/ppt/slides/slide9.xml" Id="R61fdf2f0ae5b4cc6" /><Relationship Type="http://schemas.openxmlformats.org/officeDocument/2006/relationships/slide" Target="/ppt/slides/slide10.xml" Id="Rc123df6962ad443d" /><Relationship Type="http://schemas.openxmlformats.org/officeDocument/2006/relationships/slide" Target="/ppt/slides/slide11.xml" Id="Ra5586b83895c4853" /><Relationship Type="http://schemas.openxmlformats.org/officeDocument/2006/relationships/slide" Target="/ppt/slides/slide12.xml" Id="Re4f03d96c355470e" /><Relationship Type="http://schemas.openxmlformats.org/officeDocument/2006/relationships/slide" Target="/ppt/slides/slide13.xml" Id="R077b0466f05f4430" /><Relationship Type="http://schemas.openxmlformats.org/officeDocument/2006/relationships/slide" Target="/ppt/slides/slide14.xml" Id="Rdf0951b345584819" /><Relationship Type="http://schemas.openxmlformats.org/officeDocument/2006/relationships/slide" Target="/ppt/slides/slide15.xml" Id="R6589ead6fd54478b" /><Relationship Type="http://schemas.openxmlformats.org/officeDocument/2006/relationships/slide" Target="/ppt/slides/slide16.xml" Id="R8df22be9e9324f7b" /><Relationship Type="http://schemas.openxmlformats.org/officeDocument/2006/relationships/slide" Target="/ppt/slides/slide17.xml" Id="Rb929fee867234f16" /><Relationship Type="http://schemas.openxmlformats.org/officeDocument/2006/relationships/slide" Target="/ppt/slides/slide18.xml" Id="R9280776050914651" /><Relationship Type="http://schemas.openxmlformats.org/officeDocument/2006/relationships/slide" Target="/ppt/slides/slide19.xml" Id="R0c0195d3d90648f6" /><Relationship Type="http://schemas.openxmlformats.org/officeDocument/2006/relationships/slide" Target="/ppt/slides/slide20.xml" Id="Rb78f5a59265a4d25" /><Relationship Type="http://schemas.openxmlformats.org/officeDocument/2006/relationships/slide" Target="/ppt/slides/slide21.xml" Id="Rc0c1d7327b6e427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2dd532b3e9048d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4f7cf6e545d471e" /><Relationship Type="http://schemas.openxmlformats.org/officeDocument/2006/relationships/notesMaster" Target="/ppt/notesMasters/notesMaster1.xml" Id="R0a7b670863cf458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472fc08270b4a89" /><Relationship Type="http://schemas.openxmlformats.org/officeDocument/2006/relationships/notesMaster" Target="/ppt/notesMasters/notesMaster1.xml" Id="Rb20e58fcdcce464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e22d9a3404e457f" /><Relationship Type="http://schemas.openxmlformats.org/officeDocument/2006/relationships/notesMaster" Target="/ppt/notesMasters/notesMaster1.xml" Id="Rcdabb18f706346e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926e3cd193d4d52" /><Relationship Type="http://schemas.openxmlformats.org/officeDocument/2006/relationships/notesMaster" Target="/ppt/notesMasters/notesMaster1.xml" Id="Ra78bc5f6338b4bc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f273b966f0a4570" /><Relationship Type="http://schemas.openxmlformats.org/officeDocument/2006/relationships/notesMaster" Target="/ppt/notesMasters/notesMaster1.xml" Id="Rce022f8140fa449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4bf244608b34b03" /><Relationship Type="http://schemas.openxmlformats.org/officeDocument/2006/relationships/notesMaster" Target="/ppt/notesMasters/notesMaster1.xml" Id="R573957c839f74d6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0a7730969244009" /><Relationship Type="http://schemas.openxmlformats.org/officeDocument/2006/relationships/notesMaster" Target="/ppt/notesMasters/notesMaster1.xml" Id="R7f383abef62f46b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e52c3550e8e447c" /><Relationship Type="http://schemas.openxmlformats.org/officeDocument/2006/relationships/notesMaster" Target="/ppt/notesMasters/notesMaster1.xml" Id="Ra8af8d67e85c41a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512a23414cc47a3" /><Relationship Type="http://schemas.openxmlformats.org/officeDocument/2006/relationships/notesMaster" Target="/ppt/notesMasters/notesMaster1.xml" Id="R33df44ee229c49a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f766d36de1e4946" /><Relationship Type="http://schemas.openxmlformats.org/officeDocument/2006/relationships/notesMaster" Target="/ppt/notesMasters/notesMaster1.xml" Id="R63667fd6ea16499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d5a2adfb173439b" /><Relationship Type="http://schemas.openxmlformats.org/officeDocument/2006/relationships/notesMaster" Target="/ppt/notesMasters/notesMaster1.xml" Id="R41eecc8ac85242e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eb4fb21eca346b4" /><Relationship Type="http://schemas.openxmlformats.org/officeDocument/2006/relationships/notesMaster" Target="/ppt/notesMasters/notesMaster1.xml" Id="R5987b7b2d9ae40c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0531720230849cd" /><Relationship Type="http://schemas.openxmlformats.org/officeDocument/2006/relationships/notesMaster" Target="/ppt/notesMasters/notesMaster1.xml" Id="R7dfef8ce013b41f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0ef48b921004bab" /><Relationship Type="http://schemas.openxmlformats.org/officeDocument/2006/relationships/notesMaster" Target="/ppt/notesMasters/notesMaster1.xml" Id="R5df8745682a94de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b35673c31104ab8" /><Relationship Type="http://schemas.openxmlformats.org/officeDocument/2006/relationships/notesMaster" Target="/ppt/notesMasters/notesMaster1.xml" Id="Ra740fb6da3ba420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d6bcc73651e4065" /><Relationship Type="http://schemas.openxmlformats.org/officeDocument/2006/relationships/notesMaster" Target="/ppt/notesMasters/notesMaster1.xml" Id="R78a66482bd8e413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1c6fb396f1c4f99" /><Relationship Type="http://schemas.openxmlformats.org/officeDocument/2006/relationships/notesMaster" Target="/ppt/notesMasters/notesMaster1.xml" Id="Rad348619607f4cc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e15e01c4551481e" /><Relationship Type="http://schemas.openxmlformats.org/officeDocument/2006/relationships/notesMaster" Target="/ppt/notesMasters/notesMaster1.xml" Id="R6924ab90fa45455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f827092099f4fc0" /><Relationship Type="http://schemas.openxmlformats.org/officeDocument/2006/relationships/notesMaster" Target="/ppt/notesMasters/notesMaster1.xml" Id="R61abb6b97be4425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654e5fb5ebd48a8" /><Relationship Type="http://schemas.openxmlformats.org/officeDocument/2006/relationships/notesMaster" Target="/ppt/notesMasters/notesMaster1.xml" Id="R56790ffc230e428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3ad9d42f63842f3" /><Relationship Type="http://schemas.openxmlformats.org/officeDocument/2006/relationships/notesMaster" Target="/ppt/notesMasters/notesMaster1.xml" Id="Re7501c4c9f7c406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c9e75cae614d6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babd3b458b489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b211c0f932468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b033b82331423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1977fb5949478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437ec6201f4e47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6defae7bd6419f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706a0d29f24d2a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93bf9dc07141e5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aeb37a7e924230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ce2b9b9cc84eb8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48E804F-886A-4B97-A996-D702367D972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219CFE20-A6C4-4198-9157-625114E0788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2CBB678-C9C9-47EE-AF16-5510B31F1BA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AE933E9-F967-43AB-BFA3-7F5D2B08361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7B666C9-4B33-499F-875E-3B6F9BD519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FD3CA72-18AA-4DA1-87BE-8F3A3F0357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DBAEFAB-ABF6-4B49-ABB0-8E18D55C749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C02936A-EBED-4046-B89B-3DA6A2AD0BA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A2CB8AC-B10F-40CE-990B-076599C33CC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960E06C-661D-4C5B-AB7A-C1B250E23D2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DA7A4B3-79C4-4070-AF94-46D2A7EF87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36CDD12-F3FF-4B6C-A2BE-A5FFA91610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D20647C-563D-4093-A1F2-5EB1D04AD43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75B0B72-915E-445A-84C0-80FD5A3C69B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CD7618E-D40B-4727-9453-F6D736753F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513432D-8FBC-477E-A50C-9C05CD9A07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375761D-AC62-42B6-9A5C-89C843C069C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5601E262-E358-4978-A23E-DFC81981DD6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327C2D7-DE85-410D-9ABC-186B943BA93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60C4444-4A6B-48FF-9C7F-EF23D9A7F96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AB06323-0531-4C10-9E83-EF43E64DB8F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0BADFC6-D29B-4F58-81BC-26255B7ED9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A5AD6BE-A199-443C-ACD6-60F8CAFC41B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3B193783-9589-4193-83F0-D4B462114DB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ECCFE712-3A76-4F41-AEBF-07BBD44DE6B5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FE68EEB1-0039-4321-A6F7-B7ED468E6DB9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2EE097EF-6DB0-41FC-B402-1E8992714F4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C26EF454-C097-4B92-90C0-7949E688FD7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90B4F19D-7A27-4896-8804-B3EB61F8388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49EAD11-7FB4-415F-BD50-EC95F17215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F40888D3-73B1-43A1-A6F1-B4C886F25F3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F279B51D-3044-459C-8E87-3FF28446693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31A564D8-3F3C-4BD8-B293-302D207B7D5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16A21E9B-E4AB-4680-979C-677896612A7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1AEE1D95-EF5A-4CAD-9031-4591CAD3088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750EDCC4-B8AA-421D-922E-90767EBFDB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AAB7440-C83B-4B3E-AA1C-7D72ED5127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FB66390-56E6-4288-8207-CF390E9023B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628F6481-3A21-4FA7-B197-A4ED8B35327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D4905C9D-64B3-438C-B5D1-C4184B96251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6745AF0-B272-4E56-B130-5D695810C9A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367077B-DE6C-4342-A742-AC9F0A6EDE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BE4C1DF-7813-4560-BC5A-0D937140E5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8468F001-4A1D-4F55-AC6C-DF03515BDA9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1E28D8A6-C060-4FF7-8CBA-3E60E557264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D67FF9B2-B554-4052-BEF3-937AF67D703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87C7FEC0-B018-4893-B79D-E9D9DED579C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ADA5439-70EB-47FF-BEAF-696261A062D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EFC4158-8221-4218-AF4B-1287F1717E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43AB2B62-5D84-486D-8744-DCFDD9ED864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F82C9F2-2357-41EF-AA69-5475B7C4104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122853D-6BA4-4323-881C-66D14F52E4B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E534DF3-7053-4729-BE06-A7EAB032D80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E412A23E-A012-47C5-8A42-CD556B9920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89441E23-1D6A-447A-8222-01D6C2A1F1A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042B605-5F22-4C95-ADCA-D1FACD457BD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76D4CCF-4A1A-43D8-A010-D5AA555DE62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E5F0638-8460-496F-8D99-F5FB71F280D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fe259c383f34fff" /><Relationship Type="http://schemas.openxmlformats.org/officeDocument/2006/relationships/slideLayout" Target="/ppt/slideLayouts/slideLayout1.xml" Id="R73e3635f668349ef" /><Relationship Type="http://schemas.openxmlformats.org/officeDocument/2006/relationships/slideLayout" Target="/ppt/slideLayouts/slideLayout2.xml" Id="R578c13d9d61d4427" /><Relationship Type="http://schemas.openxmlformats.org/officeDocument/2006/relationships/slideLayout" Target="/ppt/slideLayouts/slideLayout3.xml" Id="R1f1ba88fd4ac46cd" /><Relationship Type="http://schemas.openxmlformats.org/officeDocument/2006/relationships/slideLayout" Target="/ppt/slideLayouts/slideLayout4.xml" Id="Rb6ab7b93a2794284" /><Relationship Type="http://schemas.openxmlformats.org/officeDocument/2006/relationships/slideLayout" Target="/ppt/slideLayouts/slideLayout5.xml" Id="Rfddee00fa0c345af" /><Relationship Type="http://schemas.openxmlformats.org/officeDocument/2006/relationships/slideLayout" Target="/ppt/slideLayouts/slideLayout6.xml" Id="R6ab30715e1e74f8a" /><Relationship Type="http://schemas.openxmlformats.org/officeDocument/2006/relationships/slideLayout" Target="/ppt/slideLayouts/slideLayout7.xml" Id="Re27fe5fdf135436e" /><Relationship Type="http://schemas.openxmlformats.org/officeDocument/2006/relationships/slideLayout" Target="/ppt/slideLayouts/slideLayout8.xml" Id="R9f1ace2b6d2249b2" /><Relationship Type="http://schemas.openxmlformats.org/officeDocument/2006/relationships/slideLayout" Target="/ppt/slideLayouts/slideLayout9.xml" Id="R8d2c71dac7d5467e" /><Relationship Type="http://schemas.openxmlformats.org/officeDocument/2006/relationships/slideLayout" Target="/ppt/slideLayouts/slideLayout10.xml" Id="Reeadfe06e8464c73" /><Relationship Type="http://schemas.openxmlformats.org/officeDocument/2006/relationships/slideLayout" Target="/ppt/slideLayouts/slideLayout11.xml" Id="R21f1d3b49d9a4e6c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4D2D6A14-9C65-4335-B0AD-58A0B7EDDA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C1DD801-CBE9-41FE-BAD7-E874C65B8CC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7D1EF58-B500-4E6E-91B0-07373840F94E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57CCA61-EE10-4949-AEC3-5EF0AB2F172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FBECCA8-B539-4A52-B032-3FDB2CB0410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3e3635f668349ef"/>
    <p:sldLayoutId xmlns:r="http://schemas.openxmlformats.org/officeDocument/2006/relationships" id="2147483650" r:id="R578c13d9d61d4427"/>
    <p:sldLayoutId xmlns:r="http://schemas.openxmlformats.org/officeDocument/2006/relationships" id="2147483651" r:id="R1f1ba88fd4ac46cd"/>
    <p:sldLayoutId xmlns:r="http://schemas.openxmlformats.org/officeDocument/2006/relationships" id="2147483652" r:id="Rb6ab7b93a2794284"/>
    <p:sldLayoutId xmlns:r="http://schemas.openxmlformats.org/officeDocument/2006/relationships" id="2147483653" r:id="Rfddee00fa0c345af"/>
    <p:sldLayoutId xmlns:r="http://schemas.openxmlformats.org/officeDocument/2006/relationships" id="2147483654" r:id="R6ab30715e1e74f8a"/>
    <p:sldLayoutId xmlns:r="http://schemas.openxmlformats.org/officeDocument/2006/relationships" id="2147483655" r:id="Re27fe5fdf135436e"/>
    <p:sldLayoutId xmlns:r="http://schemas.openxmlformats.org/officeDocument/2006/relationships" id="2147483656" r:id="R9f1ace2b6d2249b2"/>
    <p:sldLayoutId xmlns:r="http://schemas.openxmlformats.org/officeDocument/2006/relationships" id="2147483657" r:id="R8d2c71dac7d5467e"/>
    <p:sldLayoutId xmlns:r="http://schemas.openxmlformats.org/officeDocument/2006/relationships" id="2147483658" r:id="Reeadfe06e8464c73"/>
    <p:sldLayoutId xmlns:r="http://schemas.openxmlformats.org/officeDocument/2006/relationships" id="2147483659" r:id="R21f1d3b49d9a4e6c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3c4628f79e84c29" /><Relationship Type="http://schemas.openxmlformats.org/officeDocument/2006/relationships/image" Target="/ppt/media/image.png" Id="Re48fcb825dfa4368" /><Relationship Type="http://schemas.openxmlformats.org/officeDocument/2006/relationships/image" Target="/ppt/media/image2.png" Id="Rea7a3f3432564b84" /><Relationship Type="http://schemas.openxmlformats.org/officeDocument/2006/relationships/image" Target="/ppt/media/image3.png" Id="R3504ecaac1cd4fdd" /><Relationship Type="http://schemas.openxmlformats.org/officeDocument/2006/relationships/notesSlide" Target="/ppt/notesSlides/notesSlide1.xml" Id="R65c86147dc8043f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e24062f107e4992" /><Relationship Type="http://schemas.openxmlformats.org/officeDocument/2006/relationships/image" Target="/ppt/media/image4.png" Id="Reb08ba95132d49c3" /><Relationship Type="http://schemas.openxmlformats.org/officeDocument/2006/relationships/notesSlide" Target="/ppt/notesSlides/notesSlide2.xml" Id="Racf5a8ce98a0494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0bcb7f0dfed4bfa" /><Relationship Type="http://schemas.openxmlformats.org/officeDocument/2006/relationships/image" Target="/ppt/media/image5.png" Id="R6febeb88aa9242c8" /><Relationship Type="http://schemas.openxmlformats.org/officeDocument/2006/relationships/notesSlide" Target="/ppt/notesSlides/notesSlide3.xml" Id="R0f52d56d83cd435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ade9245ff0041bf" /><Relationship Type="http://schemas.openxmlformats.org/officeDocument/2006/relationships/image" Target="/ppt/media/image6.png" Id="R126d0c06d2ab4eb2" /><Relationship Type="http://schemas.openxmlformats.org/officeDocument/2006/relationships/notesSlide" Target="/ppt/notesSlides/notesSlide4.xml" Id="R19ad91994088416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2cd2417cd03465d" /><Relationship Type="http://schemas.openxmlformats.org/officeDocument/2006/relationships/image" Target="/ppt/media/image7.png" Id="R5a1009c393884a2c" /><Relationship Type="http://schemas.openxmlformats.org/officeDocument/2006/relationships/notesSlide" Target="/ppt/notesSlides/notesSlide5.xml" Id="R62e1052701b14fb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ddc02926d924092" /><Relationship Type="http://schemas.openxmlformats.org/officeDocument/2006/relationships/image" Target="/ppt/media/image.png" Id="R6db00e69714a4242" /><Relationship Type="http://schemas.openxmlformats.org/officeDocument/2006/relationships/image" Target="/ppt/media/image8.png" Id="R0e493bfa3d424d29" /><Relationship Type="http://schemas.openxmlformats.org/officeDocument/2006/relationships/notesSlide" Target="/ppt/notesSlides/notesSlide6.xml" Id="Rb5c5d0437c3f415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85f8fc3a6854e4b" /><Relationship Type="http://schemas.openxmlformats.org/officeDocument/2006/relationships/image" Target="/ppt/media/image9.png" Id="R3d421e55221a4167" /><Relationship Type="http://schemas.openxmlformats.org/officeDocument/2006/relationships/image" Target="/ppt/media/image10.png" Id="R6a27df2268b04dc4" /><Relationship Type="http://schemas.openxmlformats.org/officeDocument/2006/relationships/notesSlide" Target="/ppt/notesSlides/notesSlide7.xml" Id="R334b1a15d8b34fe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f5b9a02f15c421b" /><Relationship Type="http://schemas.openxmlformats.org/officeDocument/2006/relationships/image" Target="/ppt/media/image11.png" Id="R59fdcfad15014ae2" /><Relationship Type="http://schemas.openxmlformats.org/officeDocument/2006/relationships/image" Target="/ppt/media/image12.png" Id="R9be82b939f444bfe" /><Relationship Type="http://schemas.openxmlformats.org/officeDocument/2006/relationships/notesSlide" Target="/ppt/notesSlides/notesSlide8.xml" Id="R3dedcbd147cd420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e8f90fd8f4d47e7" /><Relationship Type="http://schemas.openxmlformats.org/officeDocument/2006/relationships/image" Target="/ppt/media/image13.png" Id="Rcef3e9b0b15940cc" /><Relationship Type="http://schemas.openxmlformats.org/officeDocument/2006/relationships/image" Target="/ppt/media/image14.png" Id="R25fb8949558b426c" /><Relationship Type="http://schemas.openxmlformats.org/officeDocument/2006/relationships/notesSlide" Target="/ppt/notesSlides/notesSlide9.xml" Id="R8eaf87355e26494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2113c961db3441b" /><Relationship Type="http://schemas.openxmlformats.org/officeDocument/2006/relationships/image" Target="/ppt/media/image15.png" Id="R59f38db0a110492f" /><Relationship Type="http://schemas.openxmlformats.org/officeDocument/2006/relationships/image" Target="/ppt/media/image16.png" Id="R9e42442f870e493f" /><Relationship Type="http://schemas.openxmlformats.org/officeDocument/2006/relationships/notesSlide" Target="/ppt/notesSlides/notesSlide10.xml" Id="R8a7c5e5d871743f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f2969eae2a346d6" /><Relationship Type="http://schemas.openxmlformats.org/officeDocument/2006/relationships/image" Target="/ppt/media/image17.png" Id="R7ba30186d959405f" /><Relationship Type="http://schemas.openxmlformats.org/officeDocument/2006/relationships/image" Target="/ppt/media/image18.png" Id="R8895eb813afc40a6" /><Relationship Type="http://schemas.openxmlformats.org/officeDocument/2006/relationships/notesSlide" Target="/ppt/notesSlides/notesSlide11.xml" Id="R248aa9ec1a4d467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30a74b6ad2049ed" /><Relationship Type="http://schemas.openxmlformats.org/officeDocument/2006/relationships/image" Target="/ppt/media/image19.png" Id="R03f1ee74f8d449c1" /><Relationship Type="http://schemas.openxmlformats.org/officeDocument/2006/relationships/image" Target="/ppt/media/image20.png" Id="R82242f99be5b4ec3" /><Relationship Type="http://schemas.openxmlformats.org/officeDocument/2006/relationships/notesSlide" Target="/ppt/notesSlides/notesSlide12.xml" Id="Rd1573c9c3f1c44b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e4739916ec648b3" /><Relationship Type="http://schemas.openxmlformats.org/officeDocument/2006/relationships/image" Target="/ppt/media/image21.png" Id="Redd5cb51c5714562" /><Relationship Type="http://schemas.openxmlformats.org/officeDocument/2006/relationships/image" Target="/ppt/media/image22.png" Id="R397224fa91724fbb" /><Relationship Type="http://schemas.openxmlformats.org/officeDocument/2006/relationships/notesSlide" Target="/ppt/notesSlides/notesSlide13.xml" Id="Rf219bf56572745f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e8c2dfbd23d4c62" /><Relationship Type="http://schemas.openxmlformats.org/officeDocument/2006/relationships/image" Target="/ppt/media/image23.png" Id="R3a5390a14f4e4dbf" /><Relationship Type="http://schemas.openxmlformats.org/officeDocument/2006/relationships/image" Target="/ppt/media/image24.png" Id="R057dde87e58446f8" /><Relationship Type="http://schemas.openxmlformats.org/officeDocument/2006/relationships/notesSlide" Target="/ppt/notesSlides/notesSlide14.xml" Id="R67f74c12f42a426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f5a3be50b9548bb" /><Relationship Type="http://schemas.openxmlformats.org/officeDocument/2006/relationships/image" Target="/ppt/media/image25.png" Id="R4c80053ee0c44747" /><Relationship Type="http://schemas.openxmlformats.org/officeDocument/2006/relationships/notesSlide" Target="/ppt/notesSlides/notesSlide15.xml" Id="R3ced605694114d4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15f2541c0ba44dc" /><Relationship Type="http://schemas.openxmlformats.org/officeDocument/2006/relationships/image" Target="/ppt/media/image26.png" Id="R6790fecb95f6464f" /><Relationship Type="http://schemas.openxmlformats.org/officeDocument/2006/relationships/notesSlide" Target="/ppt/notesSlides/notesSlide16.xml" Id="R4a33d1dd23ce475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50a4f463f124612" /><Relationship Type="http://schemas.openxmlformats.org/officeDocument/2006/relationships/image" Target="/ppt/media/image27.png" Id="Rc215399be1c1419b" /><Relationship Type="http://schemas.openxmlformats.org/officeDocument/2006/relationships/notesSlide" Target="/ppt/notesSlides/notesSlide17.xml" Id="R5eecd808aca14e5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11b6b96da1248e5" /><Relationship Type="http://schemas.openxmlformats.org/officeDocument/2006/relationships/image" Target="/ppt/media/image28.png" Id="R99be5abe0ede410a" /><Relationship Type="http://schemas.openxmlformats.org/officeDocument/2006/relationships/notesSlide" Target="/ppt/notesSlides/notesSlide18.xml" Id="R39863da26fc8494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bf654db38ad4515" /><Relationship Type="http://schemas.openxmlformats.org/officeDocument/2006/relationships/image" Target="/ppt/media/image29.png" Id="R247b522c82d74f3d" /><Relationship Type="http://schemas.openxmlformats.org/officeDocument/2006/relationships/notesSlide" Target="/ppt/notesSlides/notesSlide19.xml" Id="R04c14154d93e47c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f86e30bbc1d4d0c" /><Relationship Type="http://schemas.openxmlformats.org/officeDocument/2006/relationships/image" Target="/ppt/media/image30.png" Id="Rdd19fddbe2b44082" /><Relationship Type="http://schemas.openxmlformats.org/officeDocument/2006/relationships/notesSlide" Target="/ppt/notesSlides/notesSlide20.xml" Id="R1a5dd8f8ab714cd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b7a0836b9074242" /><Relationship Type="http://schemas.openxmlformats.org/officeDocument/2006/relationships/image" Target="/ppt/media/image31.png" Id="R03506aaba2cf40b5" /><Relationship Type="http://schemas.openxmlformats.org/officeDocument/2006/relationships/image" Target="/ppt/media/image32.png" Id="Rf6dcd93fc4584ce6" /><Relationship Type="http://schemas.openxmlformats.org/officeDocument/2006/relationships/notesSlide" Target="/ppt/notesSlides/notesSlide21.xml" Id="R1ef482de20c54f6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DFD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0D0E517-2B90-46C0-81DD-11EE70044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EC93267-69BC-4777-95D7-91595C8F0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0"/>
            <a:ext cx="363931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20FFBF7-970E-4CB0-AEDF-AA22A5577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9436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1">
                <a:solidFill>
                  <a:srgbClr val="65D2C5"/>
                </a:solidFill>
                <a:latin typeface="Segoe UI"/>
                <a:ea typeface="Segoe UI"/>
                <a:cs typeface="Segoe UI"/>
              </a:rPr>
              <a:t>PROPUESTA DE MEJORA DIGITAL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A385E21-8E17-4148-9908-3ED13FAD7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234440"/>
            <a:ext cx="713232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5334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5334A"/>
                </a:solidFill>
                <a:latin typeface="Arial"/>
                <a:ea typeface="Arial"/>
                <a:cs typeface="Arial"/>
              </a:rPr>
              <a:t>Diagnóstico y plan de mejora
para convertir visitas en contactos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B64FC71-3ACF-4BD0-B282-D58673A24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241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65D2C5"/>
                </a:solidFill>
                <a:latin typeface="Segoe UI"/>
                <a:ea typeface="Segoe UI"/>
                <a:cs typeface="Segoe UI"/>
              </a:rPr>
              <a:t>INVIERTE360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75C1627A-7535-45CD-80D9-E6B96A354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246120"/>
            <a:ext cx="6400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Diagnóstico · soluciones · prioridades · propuesta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7F4E4DCC-F703-4095-84D6-8DB9B52EB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114800"/>
            <a:ext cx="704088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314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EA183C68-E43D-46E3-8852-6BEA4C5FC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4343400"/>
            <a:ext cx="12801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1">
                <a:solidFill>
                  <a:srgbClr val="65D2C5"/>
                </a:solidFill>
                <a:latin typeface="Segoe UI"/>
                <a:ea typeface="Segoe UI"/>
                <a:cs typeface="Segoe UI"/>
              </a:rPr>
              <a:t>Tesis central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77816459-4CD6-4CB6-A24A-0E5D59557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4681728"/>
            <a:ext cx="63093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Convertir y medir mejor antes de escalar adquisición.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8fcb825dfa4368"/>
          <a:srcRect xmlns:a="http://schemas.openxmlformats.org/drawingml/2006/main" l="33583" t="0" r="3358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87968" y="1097280"/>
            <a:ext cx="2743200" cy="4480560"/>
          </a:xfrm>
          <a:prstGeom xmlns:a="http://schemas.openxmlformats.org/drawingml/2006/main" prst="rect">
            <a:avLst/>
          </a:prstGeom>
          <a:ln xmlns:a="http://schemas.openxmlformats.org/drawingml/2006/main" w="12700">
            <a:solidFill>
              <a:srgbClr val="E2E8F0"/>
            </a:solidFill>
          </a:ln>
          <a:effectLst xmlns:a="http://schemas.openxmlformats.org/drawingml/2006/main">
            <a:outerShdw blurRad="50000" dist="30000" dir="5400000" rotWithShape="0">
              <a:srgbClr val="000000">
                <a:alpha val="20000"/>
              </a:srgbClr>
            </a:outerShdw>
          </a:effectLst>
        </p:spPr>
      </p:pic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C16E191D-8C38-47EF-BBC3-48A4C8B13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236208"/>
            <a:ext cx="502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5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Paquete de diagnóstico y estrategia · $100.000 CLP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F9D59ABD-1324-431F-9F5B-2F029212F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9672"/>
            <a:ext cx="41148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3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INVIERTE360 · DIAGNÓSTICO Y ESTRATEGIA DIGITAL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FC78C6CE-2355-44BD-9BEC-7756D5941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92240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70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7a3f3432564b84"/>
          <a:stretch xmlns:a="http://schemas.openxmlformats.org/drawingml/2006/main"/>
        </p:blipFill>
        <p:spPr>
          <a:xfrm xmlns:a="http://schemas.openxmlformats.org/drawingml/2006/main">
            <a:off x="657225" y="2647950"/>
            <a:ext cx="381000" cy="381000"/>
          </a:xfrm>
          <a:prstGeom xmlns:a="http://schemas.openxmlformats.org/drawingml/2006/main" prst="rect">
            <a:avLst/>
          </a:prstGeom>
        </p:spPr>
      </p:pic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04ecaac1cd4fdd"/>
          <a:stretch xmlns:a="http://schemas.openxmlformats.org/drawingml/2006/main"/>
        </p:blipFill>
        <p:spPr>
          <a:xfrm xmlns:a="http://schemas.openxmlformats.org/drawingml/2006/main">
            <a:off x="7106172" y="5467350"/>
            <a:ext cx="913355" cy="1047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4260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DFD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82C9826-91A7-4394-ACD3-966566A2F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BD41CE3-BD2F-43D0-951F-1B9E1D809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ALCANCE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A8F7855-C68F-4BBB-AD0D-B4FE2B248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85216"/>
            <a:ext cx="110642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Qué se hizo hoy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0FDA5098-6289-40C9-8314-5AFA045AB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7" y="1261872"/>
            <a:ext cx="10789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Revisión pública y pruebas funcionales. Sin acceso interno a plataformas.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B61BABF4-376F-4612-81BA-0DC04EE71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828800"/>
            <a:ext cx="2560320" cy="15544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AD8B044E-E8B1-416B-8892-26E28E3DC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828800"/>
            <a:ext cx="54864" cy="15544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7C7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8EFF08E3-401C-45AC-BA97-81B9A4742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93392"/>
            <a:ext cx="2240279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Visualización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244C01E1-EA30-4587-88DB-FC9923204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359152"/>
            <a:ext cx="2212848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Home, navegación, catálogo, fichas, contenido y confianza.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612AE551-A85D-4A33-BE7E-9C8108705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828800"/>
            <a:ext cx="2560320" cy="15544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0DF97B9E-5EC0-4D55-B497-0FAC2BFAD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828800"/>
            <a:ext cx="54864" cy="15544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7C7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C8C0040-6856-4AE6-9C41-9F6A7FAC4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1993392"/>
            <a:ext cx="2240279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Pruebas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B24331B6-AFC0-4E78-9919-6BFCF501F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2359152"/>
            <a:ext cx="2212848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Formulario, WhatsApp, filtros, calculadora y recorridos.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7FDBCFE9-A81D-45F2-A9E4-75002CE34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828800"/>
            <a:ext cx="2560320" cy="15544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127DD542-D672-4BA8-854F-93F7DF02E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828800"/>
            <a:ext cx="54864" cy="15544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C32904BA-5F2B-446B-80C8-15ADB5755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993392"/>
            <a:ext cx="2240279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Conversión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1BC079E1-488C-450E-A84D-35832C48F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359152"/>
            <a:ext cx="2212848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Continuidad entre interés, contacto y operación comercial.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6CD965FB-761B-4C2D-BD68-FF24A2A34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1828800"/>
            <a:ext cx="2560320" cy="15544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8340E882-8918-480B-A03C-DF81EF413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1828800"/>
            <a:ext cx="54864" cy="15544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3CDAC026-E622-433F-946E-125A437F3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1993392"/>
            <a:ext cx="2240279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Estrategia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68358AD4-9BE2-4499-8209-B276DB3AB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2359152"/>
            <a:ext cx="2212848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Priorización y mejoras propuestas a partir de lo observado.</a:t>
            </a: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4CC7460F-5931-47ED-AE1B-57C94161E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0"/>
            <a:ext cx="10972800" cy="10972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D2C17A5C-2B57-482F-B033-484A80240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096512"/>
            <a:ext cx="2468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1">
                <a:solidFill>
                  <a:srgbClr val="B54A43"/>
                </a:solidFill>
                <a:latin typeface="Segoe UI"/>
                <a:ea typeface="Segoe UI"/>
                <a:cs typeface="Segoe UI"/>
              </a:rPr>
              <a:t>NO SE AUDITÓ INTERNAMENTE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E9E7684D-CDBC-49BF-8D1C-9702C2B4D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498848"/>
            <a:ext cx="9784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WordPress Admin · Hostinger · SMTP · GA4/GTM · Google Ads · Meta Ads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EE9DB65C-E7CB-47E8-BF4A-E1BD22189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394960"/>
            <a:ext cx="10607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Las causas internas y el rendimiento histórico quedan para una fase con acceso autorizado.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DC41C9C0-491C-42E2-B8AE-0C0C3B963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9672"/>
            <a:ext cx="41148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3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INVIERTE360 · DIAGNÓSTICO Y ESTRATEGIA DIGITAL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5B87A762-6176-4D5D-8FBC-4A872E78D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92240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70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08ba95132d49c3"/>
          <a:stretch xmlns:a="http://schemas.openxmlformats.org/drawingml/2006/main"/>
        </p:blipFill>
        <p:spPr>
          <a:xfrm xmlns:a="http://schemas.openxmlformats.org/drawingml/2006/main">
            <a:off x="228600" y="6457950"/>
            <a:ext cx="190500" cy="19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3514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DFD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D445BF3-F192-4034-B72A-C96FA6734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451D04B-CCC2-4D9F-95DA-910228A36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METODOLOGÍA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292E2D5E-0B63-4348-9873-FEC63FAA9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85216"/>
            <a:ext cx="110642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Nivel de evidencia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1432DE4D-9F6A-4A0E-AD8C-5B41FCE93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783080"/>
            <a:ext cx="5257800" cy="14630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16FCE21-1414-49E5-93C2-74F525943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011680"/>
            <a:ext cx="4480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A · Comprobado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0915BED-164B-4BBD-8DAB-4D74879B8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441448"/>
            <a:ext cx="4617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Prueba manual o confirmación directa.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767813AC-EE9E-4766-A305-34ED132E2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783080"/>
            <a:ext cx="5257800" cy="14630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CBEB1A09-3AA1-4187-BD41-6A2754862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2" y="2011680"/>
            <a:ext cx="4480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B · Público actual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6AB8AC02-CAFE-4EA4-9BA5-57463DA06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2" y="2441448"/>
            <a:ext cx="4617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Visible durante la revisión.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3DA12B52-F43D-4A9F-AD5B-BC9F959A0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11880"/>
            <a:ext cx="5257800" cy="14630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5EFE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39DB82F8-E6B1-4518-A2FF-9DA303325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3840480"/>
            <a:ext cx="4480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B98A35"/>
                </a:solidFill>
                <a:latin typeface="Segoe UI"/>
                <a:ea typeface="Segoe UI"/>
                <a:cs typeface="Segoe UI"/>
              </a:rPr>
              <a:t>C · Snapshot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B8DAF34D-B309-4E7F-B820-0BDDC74EF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270248"/>
            <a:ext cx="4617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Hallazgo inicial que puede haber cambiado.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6B8E439E-3754-4756-A33D-269659706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11880"/>
            <a:ext cx="5257800" cy="14630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9341C4EE-60F5-4C46-AB64-D7790136F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2" y="3840480"/>
            <a:ext cx="4480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B54A43"/>
                </a:solidFill>
                <a:latin typeface="Segoe UI"/>
                <a:ea typeface="Segoe UI"/>
                <a:cs typeface="Segoe UI"/>
              </a:rPr>
              <a:t>D · Pendiente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30B62C9D-68F0-42D3-8C2F-5CD7083BF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2" y="4270248"/>
            <a:ext cx="4617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Requiere acceso interno.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9BB0E8E4-55ED-4A0C-A96C-003939C2A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577840"/>
            <a:ext cx="10698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Regla: no afirmar una causa técnica sin evidencia ni presentar como actual un problema histórico ya corregido.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DD99EB2A-164F-487B-BBCA-608CF474A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9672"/>
            <a:ext cx="41148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3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INVIERTE360 · DIAGNÓSTICO Y ESTRATEGIA DIGITAL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959108E8-2BBD-4EFA-812C-CE75262F7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92240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70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ebeb88aa9242c8"/>
          <a:stretch xmlns:a="http://schemas.openxmlformats.org/drawingml/2006/main"/>
        </p:blipFill>
        <p:spPr>
          <a:xfrm xmlns:a="http://schemas.openxmlformats.org/drawingml/2006/main">
            <a:off x="228600" y="6457950"/>
            <a:ext cx="190500" cy="19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9940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DFD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2631C86-E0EB-4567-950B-7D7E2E58C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B67D1907-6E91-41B0-82C2-A76B4E53B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RESUMEN EJECUTIVO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C40F0944-44DA-457C-8144-A23876518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85216"/>
            <a:ext cx="110642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La conversión requiere continuidad en cada paso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D9E1356A-2FB4-440D-9FFF-A74CFF848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057400" cy="1371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A745EACF-1A68-4E1B-9444-836394922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" cy="1371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7C7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7F4AFA62-4D43-4777-993B-8976B7F54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93392"/>
            <a:ext cx="17373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Captación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D6AD83E-9979-45FF-ADBC-356A5D0F9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9152"/>
            <a:ext cx="1709928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Validar recepción real.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B6E9F581-4353-4E4F-B2D2-96385E194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1828800"/>
            <a:ext cx="2057400" cy="1371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B456BB98-0BD2-4258-AFDD-74CB02B4F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1828800"/>
            <a:ext cx="54864" cy="1371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7C7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D89E06F6-4997-45DD-B761-4D008CF4B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993392"/>
            <a:ext cx="17373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Contexto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D2E3705A-3BB8-4299-8C87-4374797E8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359152"/>
            <a:ext cx="1709928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Conservar proyecto e intención.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858941C4-9C0A-4B5E-8A65-6ECBDC8E3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1828800"/>
            <a:ext cx="2057400" cy="1371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0BC84EE7-4F42-456C-A3E6-2D2E15E17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1828800"/>
            <a:ext cx="54864" cy="1371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4BC6066E-4AE0-4169-9295-665D2FF62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993392"/>
            <a:ext cx="17373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Conversión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96F6A2AA-6B63-4330-AE6B-707C38BA3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359152"/>
            <a:ext cx="1709928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Reducir fricción.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AAD090EE-E1BB-482C-871A-43ABC638A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1828800"/>
            <a:ext cx="2057400" cy="1371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A216A0B9-1B85-4C96-82C7-AEBAE8AE1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1828800"/>
            <a:ext cx="54864" cy="1371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4C1F2802-68D5-4B8D-8FDB-0B6E1035F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993392"/>
            <a:ext cx="17373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Confianza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D82C0F2A-10CC-4DC1-9ADA-05ED107E4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359152"/>
            <a:ext cx="1709928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Consistencia y prueba.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82303435-D710-4A8C-8896-4ADFC71E4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1828800"/>
            <a:ext cx="2057400" cy="1371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33033C53-5C66-4A68-9E94-DADD7F5EA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1828800"/>
            <a:ext cx="54864" cy="1371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75C48020-DBEF-4062-A8E6-70EEEAF6C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993392"/>
            <a:ext cx="17373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Medición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14131347-7EAE-420D-A7D1-411FBD689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359152"/>
            <a:ext cx="1709928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Acciones útiles, no solo visitas.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B6A2C97B-26EC-4CA3-B091-5ABB449ED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794760"/>
            <a:ext cx="10972800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80443064-B2AE-4988-B652-65805DB36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114800"/>
            <a:ext cx="10515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TRÁFICO  →  INTERÉS  →  CONTACTO  →  SEGUIMIENTO  →  OPORTUNIDAD COMERCIAL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6DA2FC50-592A-4FF3-AF9E-ECE086F71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257800"/>
            <a:ext cx="10789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Primero recuperar y medir. Después mejorar conversión y escalar.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60E828DE-9A13-4909-B642-E4D6440E7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9672"/>
            <a:ext cx="41148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3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INVIERTE360 · DIAGNÓSTICO Y ESTRATEGIA DIGITAL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41690179-7A0A-48A6-AD23-9D8573321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92240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70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6d0c06d2ab4eb2"/>
          <a:stretch xmlns:a="http://schemas.openxmlformats.org/drawingml/2006/main"/>
        </p:blipFill>
        <p:spPr>
          <a:xfrm xmlns:a="http://schemas.openxmlformats.org/drawingml/2006/main">
            <a:off x="228600" y="6457950"/>
            <a:ext cx="190500" cy="19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6284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DFD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73165EC-2B3D-4C82-B6E2-B3C417989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116E0E8-F184-4F30-99E8-D8D47BC7F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MAPA ACTUAL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253092E-5FC4-4DF3-839D-1794B215F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85216"/>
            <a:ext cx="110642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Las interrupciones aparecen entre interés y seguimiento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31691975-F8C1-487C-9C67-2F86713AD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057400"/>
            <a:ext cx="1874519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7EC0723-20B2-4D6C-B371-E4DC003C5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359152"/>
            <a:ext cx="1600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Home / zona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B88203E7-A864-4544-989A-ACFADF47A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6312" y="2359152"/>
            <a:ext cx="3200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→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9AB73E3F-22C3-44D1-B143-9C9772432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2057400"/>
            <a:ext cx="1874519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D6B61B6-AF50-4EA4-B7BD-FB8F75DCD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2359152"/>
            <a:ext cx="1600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Catálogo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4F3D40D2-42AF-4303-9BA5-8F9845F7A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2312" y="2359152"/>
            <a:ext cx="3200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→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74423B14-3090-4F3D-B590-599B1F2A0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2057400"/>
            <a:ext cx="1874519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682FF31D-2AC6-4A5F-AF7F-5B4418A51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2359152"/>
            <a:ext cx="1600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Ficha / cálculo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96EFEB8B-CCCF-4ACE-90B1-687FC8492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2359152"/>
            <a:ext cx="3200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→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A62A3A05-7647-4ED5-A2A0-5AF704F08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2057400"/>
            <a:ext cx="1874519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C35FDF43-48B3-4EC0-8125-2B222DFB5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2359152"/>
            <a:ext cx="1600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WhatsApp / form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F50E5269-846E-42A1-84AA-1BB118539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2359152"/>
            <a:ext cx="3200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→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D9191617-5507-4201-A854-F4F18B571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2057400"/>
            <a:ext cx="1874519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8BB1BD02-C7D7-427B-A6E3-DAF1E9F00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0" y="2359152"/>
            <a:ext cx="1600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Excel / asesor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70F1428E-FB45-4F90-9990-9AF79814B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7560"/>
            <a:ext cx="1645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CTA/anchor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71DBA5D0-BEE9-4F41-8202-17352691F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337560"/>
            <a:ext cx="1645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filtros/taxonomía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442DDE4B-D124-40C9-8F1A-3C0241A2C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337560"/>
            <a:ext cx="1645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estado/contexto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0428F233-3A6D-49F9-B7E5-49923DD8B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337560"/>
            <a:ext cx="1645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recepción/origen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ECE9E4C6-F40A-4CEC-999C-F41C78833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337560"/>
            <a:ext cx="1645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seguimiento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B135FBCA-9F94-4322-ACC3-3D4596713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106984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Objetivo del rediseño del recorrido: que cada paso conserve intención y tenga un siguiente paso verificable.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5667D87A-0DEF-4733-B46A-FED5FEA7B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9672"/>
            <a:ext cx="41148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3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INVIERTE360 · DIAGNÓSTICO Y ESTRATEGIA DIGITAL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7CB0495D-A64E-4423-A06A-D5421FAD8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92240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70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05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1009c393884a2c"/>
          <a:stretch xmlns:a="http://schemas.openxmlformats.org/drawingml/2006/main"/>
        </p:blipFill>
        <p:spPr>
          <a:xfrm xmlns:a="http://schemas.openxmlformats.org/drawingml/2006/main">
            <a:off x="228600" y="6457950"/>
            <a:ext cx="190500" cy="19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7397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DFD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7A942CA-5235-4DE9-913F-C5E2D3C62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485DDEF-4F04-444E-AE1E-61C45C730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HALLAZGO · EVIDENCIA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B5286F7F-041D-4775-9760-01C9483DD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85216"/>
            <a:ext cx="110642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Home: el recorrido debe terminar en una acción verificable</a:t>
            </a:r>
          </a:p>
        </p:txBody>
      </p:sp>
      <p:pic>
        <p:nvPicPr>
          <p:cNvPr id="26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b00e69714a4242"/>
          <a:srcRect xmlns:a="http://schemas.openxmlformats.org/drawingml/2006/main" l="8770" t="0" r="877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0352" y="1664208"/>
            <a:ext cx="6537960" cy="4251960"/>
          </a:xfrm>
          <a:prstGeom xmlns:a="http://schemas.openxmlformats.org/drawingml/2006/main" prst="rect">
            <a:avLst/>
          </a:prstGeom>
          <a:ln xmlns:a="http://schemas.openxmlformats.org/drawingml/2006/main" w="12700">
            <a:solidFill>
              <a:srgbClr val="E2E8F0"/>
            </a:solidFill>
          </a:ln>
          <a:effectLst xmlns:a="http://schemas.openxmlformats.org/drawingml/2006/main">
            <a:outerShdw blurRad="50000" dist="30000" dir="5400000" rotWithShape="0">
              <a:srgbClr val="000000">
                <a:alpha val="20000"/>
              </a:srgbClr>
            </a:outerShdw>
          </a:effectLst>
        </p:spPr>
      </p:pic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CCF8EECE-BEEA-4B28-83F3-492728677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1664208"/>
            <a:ext cx="4315968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ECABC61A-ED17-48EE-8B33-666191011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1664208"/>
            <a:ext cx="54864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7C7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CC65297D-98E9-4E21-8EB6-3040D89C1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1828800"/>
            <a:ext cx="39959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Evidencia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BCFA490-A283-491E-8A68-076A8AA75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2194560"/>
            <a:ext cx="3968496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CTA/anchor observado en el levantamiento; revalidar estado actual.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299D2E82-CD1D-48E4-B3BA-A2CEE2904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2971800"/>
            <a:ext cx="4315968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7F2C8840-9ACD-4CA8-A3CF-1FFAA2699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2971800"/>
            <a:ext cx="54864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B54A4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568A7D2C-F06B-4E97-BD72-5AC66A1D6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3136392"/>
            <a:ext cx="39959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B54A43"/>
                </a:solidFill>
                <a:latin typeface="Segoe UI"/>
                <a:ea typeface="Segoe UI"/>
                <a:cs typeface="Segoe UI"/>
              </a:rPr>
              <a:t>Impacto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C2BAF772-4C53-49F7-87FB-0C091571F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3502152"/>
            <a:ext cx="3968496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Una interrupción puede desperdiciar intención.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88408891-CD7C-45AC-928C-D7E966A48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4279392"/>
            <a:ext cx="4315968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BD2309F7-55E0-462D-A77D-FAF8BA268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4279392"/>
            <a:ext cx="54864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42E7BFB0-277F-42E6-A764-EE084131E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4443983"/>
            <a:ext cx="39959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Mejora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81962108-8303-4B89-A641-1DBA86E90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4809744"/>
            <a:ext cx="3968496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CTA por intención + destino funcional.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D3034EA9-D6FC-4793-A24C-758EDD71C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98464"/>
            <a:ext cx="64008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30" b="0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Evidencia de revisión manual / material del levantamiento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EA0860E1-EB24-4D36-800B-9AAE321D9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9672"/>
            <a:ext cx="41148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3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INVIERTE360 · DIAGNÓSTICO Y ESTRATEGIA DIGITAL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6F3D0C1A-50D7-4CC5-AC24-1D49C383D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92240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70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06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493bfa3d424d29"/>
          <a:stretch xmlns:a="http://schemas.openxmlformats.org/drawingml/2006/main"/>
        </p:blipFill>
        <p:spPr>
          <a:xfrm xmlns:a="http://schemas.openxmlformats.org/drawingml/2006/main">
            <a:off x="228600" y="6457950"/>
            <a:ext cx="190500" cy="19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78251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DFD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505ABFE-D524-4CB1-8C67-7A588A3AE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5AED44C-967C-4898-AD3F-DAFFA4A4D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HALLAZGO · EVIDENCIA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CECFA8BA-BE0C-4EC3-9045-28D58E948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85216"/>
            <a:ext cx="110642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Filtros: hoy funcionan, pero necesitan más certeza de interacción</a:t>
            </a:r>
          </a:p>
        </p:txBody>
      </p:sp>
      <p:pic>
        <p:nvPicPr>
          <p:cNvPr id="26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421e55221a4167"/>
          <a:srcRect xmlns:a="http://schemas.openxmlformats.org/drawingml/2006/main" l="9052" t="0" r="905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0352" y="1664208"/>
            <a:ext cx="6537960" cy="4251960"/>
          </a:xfrm>
          <a:prstGeom xmlns:a="http://schemas.openxmlformats.org/drawingml/2006/main" prst="rect">
            <a:avLst/>
          </a:prstGeom>
          <a:ln xmlns:a="http://schemas.openxmlformats.org/drawingml/2006/main" w="12700">
            <a:solidFill>
              <a:srgbClr val="E2E8F0"/>
            </a:solidFill>
          </a:ln>
          <a:effectLst xmlns:a="http://schemas.openxmlformats.org/drawingml/2006/main">
            <a:outerShdw blurRad="50000" dist="30000" dir="5400000" rotWithShape="0">
              <a:srgbClr val="000000">
                <a:alpha val="20000"/>
              </a:srgbClr>
            </a:outerShdw>
          </a:effectLst>
        </p:spPr>
      </p:pic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780145CE-F51F-4DD9-9877-4F84954F4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1664208"/>
            <a:ext cx="4315968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1EAB839A-409E-40DD-89AC-A36DDCDBA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1664208"/>
            <a:ext cx="54864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7C7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E144A1C2-B391-4406-8D55-50EE3A5BE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1828800"/>
            <a:ext cx="39959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Actual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52B0C798-4193-42E0-8F91-6779C81F7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2194560"/>
            <a:ext cx="3968496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Catálogo y filtros operativos.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81FE1C17-C67E-44C3-A782-1135EA82D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2971800"/>
            <a:ext cx="4315968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F477340D-FFDB-478D-BC4E-397A7C31F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2971800"/>
            <a:ext cx="54864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B98A3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F3C4A7C5-EAA0-4E98-90FA-E8BA27A9A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3136392"/>
            <a:ext cx="39959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B98A35"/>
                </a:solidFill>
                <a:latin typeface="Segoe UI"/>
                <a:ea typeface="Segoe UI"/>
                <a:cs typeface="Segoe UI"/>
              </a:rPr>
              <a:t>Fricción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D1BB5C9F-35E4-4080-B3C9-9FE4FE4FB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3502152"/>
            <a:ext cx="3968496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Actualización / Aplicar puede sentirse redundante.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1DC3FF5A-F133-4853-88EA-4E21D1A4F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4279392"/>
            <a:ext cx="4315968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B7C233E5-D72E-49B1-95DA-19939FD00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4279392"/>
            <a:ext cx="54864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EFE55F71-568F-4B76-AE7B-1919E03B4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4443983"/>
            <a:ext cx="39959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Mejora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4BCA7B84-FF97-4348-A0AB-08F8BC73C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4809744"/>
            <a:ext cx="3968496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Una lógica clara + feedback + resultados.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35A3D1DB-08A6-4CE8-AF7E-B7E5B3B78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98464"/>
            <a:ext cx="64008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30" b="0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Evidencia de revisión manual / material del levantamiento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B07D66E8-B558-464E-A2AA-3B2FC36E0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9672"/>
            <a:ext cx="41148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3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INVIERTE360 · DIAGNÓSTICO Y ESTRATEGIA DIGITAL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008CC441-C806-43E6-99BD-6C7E25DBE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92240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70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07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27df2268b04dc4"/>
          <a:stretch xmlns:a="http://schemas.openxmlformats.org/drawingml/2006/main"/>
        </p:blipFill>
        <p:spPr>
          <a:xfrm xmlns:a="http://schemas.openxmlformats.org/drawingml/2006/main">
            <a:off x="228600" y="6457950"/>
            <a:ext cx="190500" cy="19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72711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DFD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9D0BCD0-A285-4F39-AC55-68B91AB23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B95F14F-35DE-4DF7-B5C0-D79F1F334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HALLAZGO · EVIDENCIA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2A99D4A-C94A-40C4-B1A7-C06737283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85216"/>
            <a:ext cx="110642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Formulario: éxito visual no equivale a contacto recibido</a:t>
            </a:r>
          </a:p>
        </p:txBody>
      </p:sp>
      <p:pic>
        <p:nvPicPr>
          <p:cNvPr id="26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fdcfad15014ae2"/>
          <a:srcRect xmlns:a="http://schemas.openxmlformats.org/drawingml/2006/main" l="9340" t="0" r="934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0352" y="1664208"/>
            <a:ext cx="6537960" cy="4251960"/>
          </a:xfrm>
          <a:prstGeom xmlns:a="http://schemas.openxmlformats.org/drawingml/2006/main" prst="rect">
            <a:avLst/>
          </a:prstGeom>
          <a:ln xmlns:a="http://schemas.openxmlformats.org/drawingml/2006/main" w="12700">
            <a:solidFill>
              <a:srgbClr val="E2E8F0"/>
            </a:solidFill>
          </a:ln>
          <a:effectLst xmlns:a="http://schemas.openxmlformats.org/drawingml/2006/main">
            <a:outerShdw blurRad="50000" dist="30000" dir="5400000" rotWithShape="0">
              <a:srgbClr val="000000">
                <a:alpha val="20000"/>
              </a:srgbClr>
            </a:outerShdw>
          </a:effectLst>
        </p:spPr>
      </p:pic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F8ABED5C-6679-4747-B30F-123D08FE8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1664208"/>
            <a:ext cx="4315968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204DAE96-E6AC-4AEB-A8F0-346FB51D3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1664208"/>
            <a:ext cx="54864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7C7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7FF6E15A-49CF-49E0-8E4C-CB8DE7F81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1828800"/>
            <a:ext cx="39959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Prueba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26133055-DEA9-4296-B50C-F3DA0A1E9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2194560"/>
            <a:ext cx="3968496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La interfaz confirmó; Leonardo indicó no recepción.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85A07FAA-3653-4D46-87FF-47542E607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2971800"/>
            <a:ext cx="4315968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09C79B77-A789-44DB-91CB-A906ED64B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2971800"/>
            <a:ext cx="54864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B54A4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2CAFD659-41BB-4140-9020-017634AFA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3136392"/>
            <a:ext cx="39959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B54A43"/>
                </a:solidFill>
                <a:latin typeface="Segoe UI"/>
                <a:ea typeface="Segoe UI"/>
                <a:cs typeface="Segoe UI"/>
              </a:rPr>
              <a:t>Riesgo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056B7380-92CA-451B-9544-19CD0D313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3502152"/>
            <a:ext cx="3968496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Posible pérdida de contactos.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F1038FC5-6251-4F2E-93A8-1B2F813D0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4279392"/>
            <a:ext cx="4315968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93037ADF-B1A6-402C-BC27-68DD01CE3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4279392"/>
            <a:ext cx="54864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2F6DA625-ED0C-4CAA-ADCB-CA01E3B3C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4443983"/>
            <a:ext cx="39959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Pendiente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D2617FD9-99DF-4094-B1D1-484D9DDF0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4809744"/>
            <a:ext cx="3968496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Destinatario · SMTP · logs · recepción real.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37E4E282-96AB-4D77-AE4F-00A17D443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98464"/>
            <a:ext cx="64008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30" b="0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Evidencia de revisión manual / material del levantamiento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2307560B-CF9C-41DB-B40F-CF843BF41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9672"/>
            <a:ext cx="41148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3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INVIERTE360 · DIAGNÓSTICO Y ESTRATEGIA DIGITAL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AA7DC37D-5EAD-4AF7-94D1-017093E88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92240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70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08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e82b939f444bfe"/>
          <a:stretch xmlns:a="http://schemas.openxmlformats.org/drawingml/2006/main"/>
        </p:blipFill>
        <p:spPr>
          <a:xfrm xmlns:a="http://schemas.openxmlformats.org/drawingml/2006/main">
            <a:off x="228600" y="6457950"/>
            <a:ext cx="190500" cy="19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05649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DFD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1F015E1-A298-43F2-A828-40543476F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E08B811D-3F28-4519-9783-DC224C177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HALLAZGO · EVIDENCIA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ABE0A2A8-8F8F-4D76-9825-EC1D38382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85216"/>
            <a:ext cx="110642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WhatsApp: el contexto no es uniforme</a:t>
            </a:r>
          </a:p>
        </p:txBody>
      </p:sp>
      <p:pic>
        <p:nvPicPr>
          <p:cNvPr id="26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f3e9b0b15940cc"/>
          <a:srcRect xmlns:a="http://schemas.openxmlformats.org/drawingml/2006/main" l="8646" t="0" r="864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0352" y="1664208"/>
            <a:ext cx="6537960" cy="4251960"/>
          </a:xfrm>
          <a:prstGeom xmlns:a="http://schemas.openxmlformats.org/drawingml/2006/main" prst="rect">
            <a:avLst/>
          </a:prstGeom>
          <a:ln xmlns:a="http://schemas.openxmlformats.org/drawingml/2006/main" w="12700">
            <a:solidFill>
              <a:srgbClr val="E2E8F0"/>
            </a:solidFill>
          </a:ln>
          <a:effectLst xmlns:a="http://schemas.openxmlformats.org/drawingml/2006/main">
            <a:outerShdw blurRad="50000" dist="30000" dir="5400000" rotWithShape="0">
              <a:srgbClr val="000000">
                <a:alpha val="20000"/>
              </a:srgbClr>
            </a:outerShdw>
          </a:effectLst>
        </p:spPr>
      </p:pic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53F83CF6-11E3-40B3-A5A9-1354A07A2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1664208"/>
            <a:ext cx="4315968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5052EAA5-1E03-492A-93C2-19797D3CC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1664208"/>
            <a:ext cx="54864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7C7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ECA2B5E9-B2B1-41BD-B5FC-BCD60D436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1828800"/>
            <a:ext cx="39959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Fortaleza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F642565-B6AF-4341-B5B1-ECDDE17AD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2194560"/>
            <a:ext cx="3968496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Ficha individual puede precargar proyecto.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3098B2FF-46D0-4EAC-82B4-25329049A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2971800"/>
            <a:ext cx="4315968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704D5A23-901F-45DC-A6CC-FEEE80C8A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2971800"/>
            <a:ext cx="54864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B98A3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C2A0B7B6-5315-4514-9201-BDFAF204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3136392"/>
            <a:ext cx="39959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B98A35"/>
                </a:solidFill>
                <a:latin typeface="Segoe UI"/>
                <a:ea typeface="Segoe UI"/>
                <a:cs typeface="Segoe UI"/>
              </a:rPr>
              <a:t>Brecha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D22F0066-5E80-4365-AE83-4D1DF3171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3502152"/>
            <a:ext cx="3968496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Otros accesos entregan menos contexto.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4A420C6D-3F49-4ED8-8E28-B6A91BD08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4279392"/>
            <a:ext cx="4315968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A4C86D1C-E03C-4BBC-8030-73E2C34E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4279392"/>
            <a:ext cx="54864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B75AE134-C8C4-427D-B5CF-2588876F7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4443983"/>
            <a:ext cx="39959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Mejora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6DDADC8C-D59F-4B2A-ADA0-56CAFB803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4809744"/>
            <a:ext cx="3968496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Proyecto + comuna + origen + URL.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4A9EEFE3-9C30-414A-B816-0FAE89B54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98464"/>
            <a:ext cx="64008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30" b="0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Evidencia de revisión manual / material del levantamiento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81B97BA4-A906-465A-ACC2-71D355C0A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9672"/>
            <a:ext cx="41148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3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INVIERTE360 · DIAGNÓSTICO Y ESTRATEGIA DIGITAL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57B69FEB-38A2-45DC-B3CC-3CC2ADE77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92240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70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09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fb8949558b426c"/>
          <a:stretch xmlns:a="http://schemas.openxmlformats.org/drawingml/2006/main"/>
        </p:blipFill>
        <p:spPr>
          <a:xfrm xmlns:a="http://schemas.openxmlformats.org/drawingml/2006/main">
            <a:off x="228600" y="6457950"/>
            <a:ext cx="190500" cy="19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48435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DFD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7F030C6-A09F-46EB-8BDD-D8F68F3BD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2505795D-96BB-4F46-A202-10488B744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HALLAZGO · EVIDENCIA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674CF48-241E-4E5B-B038-DD45CB914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85216"/>
            <a:ext cx="110642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Calculadora: existe intención de alto valor</a:t>
            </a:r>
          </a:p>
        </p:txBody>
      </p:sp>
      <p:pic>
        <p:nvPicPr>
          <p:cNvPr id="26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f38db0a110492f"/>
          <a:srcRect xmlns:a="http://schemas.openxmlformats.org/drawingml/2006/main" l="8382" t="0" r="838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0352" y="1664208"/>
            <a:ext cx="6537960" cy="4251960"/>
          </a:xfrm>
          <a:prstGeom xmlns:a="http://schemas.openxmlformats.org/drawingml/2006/main" prst="rect">
            <a:avLst/>
          </a:prstGeom>
          <a:ln xmlns:a="http://schemas.openxmlformats.org/drawingml/2006/main" w="12700">
            <a:solidFill>
              <a:srgbClr val="E2E8F0"/>
            </a:solidFill>
          </a:ln>
          <a:effectLst xmlns:a="http://schemas.openxmlformats.org/drawingml/2006/main">
            <a:outerShdw blurRad="50000" dist="30000" dir="5400000" rotWithShape="0">
              <a:srgbClr val="000000">
                <a:alpha val="20000"/>
              </a:srgbClr>
            </a:outerShdw>
          </a:effectLst>
        </p:spPr>
      </p:pic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C0368BD6-809E-4F2E-8F1E-76338A3B7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1664208"/>
            <a:ext cx="4315968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2906621D-0DF3-497B-BF37-7B61ECB86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1664208"/>
            <a:ext cx="54864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7C7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BA2C259-2C68-49C9-A0F0-ACE7D7989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1828800"/>
            <a:ext cx="39959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Fortaleza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4BB577E0-0C79-411C-965B-6D5B6DA53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2194560"/>
            <a:ext cx="3968496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Simulación con variables financieras.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D4AF18DA-4116-4CA5-B99E-A856F67B6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2971800"/>
            <a:ext cx="4315968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BC382CD6-9458-4A9B-A3E3-7E80ABDC7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2971800"/>
            <a:ext cx="54864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B98A3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0DA94390-E3DA-4BDC-878D-B7243E7D7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3136392"/>
            <a:ext cx="39959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B98A35"/>
                </a:solidFill>
                <a:latin typeface="Segoe UI"/>
                <a:ea typeface="Segoe UI"/>
                <a:cs typeface="Segoe UI"/>
              </a:rPr>
              <a:t>Brecha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20442D84-FC72-4B6E-ACAF-F65E94760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3502152"/>
            <a:ext cx="3968496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No continúa estructuradamente hacia contacto.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0BF01FC1-8C2E-4EAF-B269-CE7FE4602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4279392"/>
            <a:ext cx="4315968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E1AA603E-C184-4390-BDF5-6DB5F5441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4279392"/>
            <a:ext cx="54864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D511DA2F-1303-49EE-A9E0-0B1FDA956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4443983"/>
            <a:ext cx="39959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Mejora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A0985E03-280C-4DBB-A14E-FB67DDFA5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4809744"/>
            <a:ext cx="3968496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Simulación → proyectos compatibles → asesor.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0C0E8A11-109A-40A9-81BF-623A95A6A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98464"/>
            <a:ext cx="64008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30" b="0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Evidencia de revisión manual / material del levantamiento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E4FA9BBF-BAF9-42F8-873C-9CD19C176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9672"/>
            <a:ext cx="41148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3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INVIERTE360 · DIAGNÓSTICO Y ESTRATEGIA DIGITAL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BE269686-2C54-4BD7-B883-CCE4A7A32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92240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70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10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42442f870e493f"/>
          <a:stretch xmlns:a="http://schemas.openxmlformats.org/drawingml/2006/main"/>
        </p:blipFill>
        <p:spPr>
          <a:xfrm xmlns:a="http://schemas.openxmlformats.org/drawingml/2006/main">
            <a:off x="228600" y="6457950"/>
            <a:ext cx="190500" cy="19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45384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DFD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556FE05-8072-4B49-B87C-C39A9ADA2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A3AFB94-FB4C-40F2-83C7-E50190AB8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HALLAZGO · EVIDENCIA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B7D523E7-DF25-4F0D-A429-E7839C4D4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85216"/>
            <a:ext cx="110642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Quiénes somos: la confianza debe ser verificable</a:t>
            </a:r>
          </a:p>
        </p:txBody>
      </p:sp>
      <p:pic>
        <p:nvPicPr>
          <p:cNvPr id="26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a30186d959405f"/>
          <a:srcRect xmlns:a="http://schemas.openxmlformats.org/drawingml/2006/main" l="8837" t="0" r="883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0352" y="1664208"/>
            <a:ext cx="6537960" cy="4251960"/>
          </a:xfrm>
          <a:prstGeom xmlns:a="http://schemas.openxmlformats.org/drawingml/2006/main" prst="rect">
            <a:avLst/>
          </a:prstGeom>
          <a:ln xmlns:a="http://schemas.openxmlformats.org/drawingml/2006/main" w="12700">
            <a:solidFill>
              <a:srgbClr val="E2E8F0"/>
            </a:solidFill>
          </a:ln>
          <a:effectLst xmlns:a="http://schemas.openxmlformats.org/drawingml/2006/main">
            <a:outerShdw blurRad="50000" dist="30000" dir="5400000" rotWithShape="0">
              <a:srgbClr val="000000">
                <a:alpha val="20000"/>
              </a:srgbClr>
            </a:outerShdw>
          </a:effectLst>
        </p:spPr>
      </p:pic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EF556AAE-3AE9-4392-9844-600E2EB34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1664208"/>
            <a:ext cx="4315968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B20A0917-6436-44C7-88CB-F16B1BDB3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1664208"/>
            <a:ext cx="54864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7C7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89BDFDF4-29BB-4613-A3D6-ED12BD0CA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1828800"/>
            <a:ext cx="39959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Actual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82F505B-1D65-4508-BB51-E74826F13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2194560"/>
            <a:ext cx="3968496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Copy de cercanía y asesoría.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13B5BB72-A46E-4493-9112-B63D87A3A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2971800"/>
            <a:ext cx="4315968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071F32AF-09AE-4215-8D78-6C5AF9E2C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2971800"/>
            <a:ext cx="54864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B98A3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A1EA4352-CFBA-4D15-899A-F05450A36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3136392"/>
            <a:ext cx="39959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B98A35"/>
                </a:solidFill>
                <a:latin typeface="Segoe UI"/>
                <a:ea typeface="Segoe UI"/>
                <a:cs typeface="Segoe UI"/>
              </a:rPr>
              <a:t>Oportunidad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879439C1-8CAE-4457-95C9-256B9F7A8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3502152"/>
            <a:ext cx="3968496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Equipo, experiencia y metodología.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A9FDB350-8C72-4B9C-90CD-214AF18EE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4279392"/>
            <a:ext cx="4315968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44AB1C77-537D-4DA6-8675-FCA12FEDD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4279392"/>
            <a:ext cx="54864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069195ED-E376-4EEA-8BDF-C9084A22A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4443983"/>
            <a:ext cx="39959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Regla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97A25F37-436D-4800-8DCD-11DF3C808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4809744"/>
            <a:ext cx="3968496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Solo evidencia real y autorizada.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D0E7D26B-81E0-441F-A43B-3E9704DD0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98464"/>
            <a:ext cx="64008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30" b="0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Evidencia de revisión manual / material del levantamiento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0897BD3E-4821-42ED-840C-95BFA8E16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9672"/>
            <a:ext cx="41148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3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INVIERTE360 · DIAGNÓSTICO Y ESTRATEGIA DIGITAL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5A245E7A-3309-42B1-8E16-E81161557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92240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70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11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95eb813afc40a6"/>
          <a:stretch xmlns:a="http://schemas.openxmlformats.org/drawingml/2006/main"/>
        </p:blipFill>
        <p:spPr>
          <a:xfrm xmlns:a="http://schemas.openxmlformats.org/drawingml/2006/main">
            <a:off x="228600" y="6457950"/>
            <a:ext cx="190500" cy="19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7274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DFD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C208046-1A87-4652-BA22-B8BA9D30F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93C25CE5-C3AE-4762-8438-DC260117E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HALLAZGO · EVIDENCIA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6E36CCD7-FAC8-4BEB-BD82-85D39E3F1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85216"/>
            <a:ext cx="110642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Ficha: estado y contenido deben compartir una fuente de verdad</a:t>
            </a:r>
          </a:p>
        </p:txBody>
      </p:sp>
      <p:pic>
        <p:nvPicPr>
          <p:cNvPr id="26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f1ee74f8d449c1"/>
          <a:srcRect xmlns:a="http://schemas.openxmlformats.org/drawingml/2006/main" l="8727" t="0" r="872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0352" y="1664208"/>
            <a:ext cx="6537960" cy="4251960"/>
          </a:xfrm>
          <a:prstGeom xmlns:a="http://schemas.openxmlformats.org/drawingml/2006/main" prst="rect">
            <a:avLst/>
          </a:prstGeom>
          <a:ln xmlns:a="http://schemas.openxmlformats.org/drawingml/2006/main" w="12700">
            <a:solidFill>
              <a:srgbClr val="E2E8F0"/>
            </a:solidFill>
          </a:ln>
          <a:effectLst xmlns:a="http://schemas.openxmlformats.org/drawingml/2006/main">
            <a:outerShdw blurRad="50000" dist="30000" dir="5400000" rotWithShape="0">
              <a:srgbClr val="000000">
                <a:alpha val="20000"/>
              </a:srgbClr>
            </a:outerShdw>
          </a:effectLst>
        </p:spPr>
      </p:pic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11D3A2EF-BB1E-4387-99F1-EB185E5F6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1664208"/>
            <a:ext cx="4315968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46F09982-BAA7-4F08-A08D-6753FB2FA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1664208"/>
            <a:ext cx="54864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B54A4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F1E38B84-739B-4FFD-9C8C-B4B4E5972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1828800"/>
            <a:ext cx="39959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B54A43"/>
                </a:solidFill>
                <a:latin typeface="Segoe UI"/>
                <a:ea typeface="Segoe UI"/>
                <a:cs typeface="Segoe UI"/>
              </a:rPr>
              <a:t>Hallazgo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0835134-EB76-4FF4-8247-00279E60E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2194560"/>
            <a:ext cx="3968496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Se observó inconsistencia estado/copy.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B7E4EA94-0697-438E-BE09-AE6AC8285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2971800"/>
            <a:ext cx="4315968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D7050137-B810-4FAD-A707-630700284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2971800"/>
            <a:ext cx="54864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B98A3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1669509B-B365-4245-B87E-CC8F6E2AF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3136392"/>
            <a:ext cx="39959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B98A35"/>
                </a:solidFill>
                <a:latin typeface="Segoe UI"/>
                <a:ea typeface="Segoe UI"/>
                <a:cs typeface="Segoe UI"/>
              </a:rPr>
              <a:t>Impacto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A8B038CC-19E0-4B2B-BB5C-5A2D8F256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3502152"/>
            <a:ext cx="3968496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Confianza y filtros.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6EA41852-DA40-478B-9616-9E1FF36F4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4279392"/>
            <a:ext cx="4315968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00447675-341F-47BF-AFD4-01D57160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4279392"/>
            <a:ext cx="54864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7A80F926-F009-4C92-8B66-E55B1A627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4443983"/>
            <a:ext cx="39959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Mejora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9627E4BD-4872-42DD-A1B4-76F1FEE36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4809744"/>
            <a:ext cx="3968496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Modelo único de estado + validación editorial.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A957373C-7495-4BE6-8994-014B16DE0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98464"/>
            <a:ext cx="64008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30" b="0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Evidencia de revisión manual / material del levantamiento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2722DB14-D69C-48F7-9E2E-AC130A280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9672"/>
            <a:ext cx="41148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3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INVIERTE360 · DIAGNÓSTICO Y ESTRATEGIA DIGITAL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75A831DE-579D-4D78-8B90-58B4CFD26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92240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70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12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242f99be5b4ec3"/>
          <a:stretch xmlns:a="http://schemas.openxmlformats.org/drawingml/2006/main"/>
        </p:blipFill>
        <p:spPr>
          <a:xfrm xmlns:a="http://schemas.openxmlformats.org/drawingml/2006/main">
            <a:off x="228600" y="6457950"/>
            <a:ext cx="190500" cy="19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65509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DFD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42958CF-DF46-49CA-AC40-E7C3B4179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606EED0E-FEFB-46BC-9B65-3523C07D7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HALLAZGO · EVIDENCIA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41CDCBC-D46C-4330-B276-B0EDC5821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85216"/>
            <a:ext cx="110642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Vendedor: una intención distinta necesita un recorrido distinto</a:t>
            </a:r>
          </a:p>
        </p:txBody>
      </p:sp>
      <p:pic>
        <p:nvPicPr>
          <p:cNvPr id="26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d5cb51c571456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1885950"/>
            <a:ext cx="5715000" cy="3714750"/>
          </a:xfrm>
          <a:prstGeom xmlns:a="http://schemas.openxmlformats.org/drawingml/2006/main" prst="rect">
            <a:avLst/>
          </a:prstGeom>
          <a:ln xmlns:a="http://schemas.openxmlformats.org/drawingml/2006/main" w="12700">
            <a:solidFill>
              <a:srgbClr val="E2E8F0"/>
            </a:solidFill>
          </a:ln>
          <a:effectLst xmlns:a="http://schemas.openxmlformats.org/drawingml/2006/main">
            <a:outerShdw blurRad="50000" dist="30000" dir="5400000" rotWithShape="0">
              <a:srgbClr val="000000">
                <a:alpha val="20000"/>
              </a:srgbClr>
            </a:outerShdw>
          </a:effectLst>
        </p:spPr>
      </p:pic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133D6C07-ACA1-47D7-93A6-86B636E86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1664208"/>
            <a:ext cx="4315968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D6E278E5-112B-4914-93D9-71900C4AF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1664208"/>
            <a:ext cx="54864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7C7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A69C162D-ACD2-4B93-9789-C72E6D7EA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1828800"/>
            <a:ext cx="39959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Actual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74A246F5-2B22-406C-A5A8-1C178062B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2194560"/>
            <a:ext cx="3968496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Deriva al contacto genérico.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226FB2AE-467D-49FA-8308-50101C2FC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2971800"/>
            <a:ext cx="4315968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E26B6C50-BDD4-496C-A1DE-83FFAA837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2971800"/>
            <a:ext cx="54864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B98A3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D217C9A3-2626-465B-9BD2-2BCD7A7BE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3136392"/>
            <a:ext cx="39959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B98A35"/>
                </a:solidFill>
                <a:latin typeface="Segoe UI"/>
                <a:ea typeface="Segoe UI"/>
                <a:cs typeface="Segoe UI"/>
              </a:rPr>
              <a:t>Problema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5EDC3ACA-C559-45BF-B5D9-6A8182926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3502152"/>
            <a:ext cx="3968496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Se mezcla vendedor con inversionista.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77C95EAA-A880-4710-BDE9-46B1DC920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4279392"/>
            <a:ext cx="4315968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BE2D706E-DCEA-44A1-A398-9CAA6AF0F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4279392"/>
            <a:ext cx="54864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40C83D75-A4B4-4A13-8D97-C9E5C5F09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4443983"/>
            <a:ext cx="39959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Mejora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1DB8A210-F33B-4D28-906F-9F21B4232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4809744"/>
            <a:ext cx="3968496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Landing + formulario específico.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30900EBB-6FDA-401D-A93C-1DE9D1268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98464"/>
            <a:ext cx="64008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30" b="0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Evidencia de revisión manual / material del levantamiento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2E6FF7DE-10B5-4260-9220-96157A29C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9672"/>
            <a:ext cx="41148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3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INVIERTE360 · DIAGNÓSTICO Y ESTRATEGIA DIGITAL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D186D224-86D0-4B3E-90EB-1D713614C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92240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70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13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7224fa91724fbb"/>
          <a:stretch xmlns:a="http://schemas.openxmlformats.org/drawingml/2006/main"/>
        </p:blipFill>
        <p:spPr>
          <a:xfrm xmlns:a="http://schemas.openxmlformats.org/drawingml/2006/main">
            <a:off x="228600" y="6457950"/>
            <a:ext cx="190500" cy="19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44220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DFD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1D4E8B9-FC38-435E-856E-CB64C062C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D5EC395-041C-458F-87FD-83B5FD8C0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HALLAZGO · EVIDENCIA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7C4B546F-59FC-4D14-ABEB-DC47CD2AF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85216"/>
            <a:ext cx="110642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Beneficios: claridad de condiciones protege la confianza</a:t>
            </a:r>
          </a:p>
        </p:txBody>
      </p:sp>
      <p:pic>
        <p:nvPicPr>
          <p:cNvPr id="26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5390a14f4e4dbf"/>
          <a:srcRect xmlns:a="http://schemas.openxmlformats.org/drawingml/2006/main" l="8645" t="0" r="864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0352" y="1664208"/>
            <a:ext cx="6537960" cy="4251960"/>
          </a:xfrm>
          <a:prstGeom xmlns:a="http://schemas.openxmlformats.org/drawingml/2006/main" prst="rect">
            <a:avLst/>
          </a:prstGeom>
          <a:ln xmlns:a="http://schemas.openxmlformats.org/drawingml/2006/main" w="12700">
            <a:solidFill>
              <a:srgbClr val="E2E8F0"/>
            </a:solidFill>
          </a:ln>
          <a:effectLst xmlns:a="http://schemas.openxmlformats.org/drawingml/2006/main">
            <a:outerShdw blurRad="50000" dist="30000" dir="5400000" rotWithShape="0">
              <a:srgbClr val="000000">
                <a:alpha val="20000"/>
              </a:srgbClr>
            </a:outerShdw>
          </a:effectLst>
        </p:spPr>
      </p:pic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09608983-DA71-4C09-A597-2EFFC807F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1664208"/>
            <a:ext cx="4315968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9A6C56C5-6119-42DA-BC0B-1757D0227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1664208"/>
            <a:ext cx="54864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7C7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F86A2190-8D3A-4FE7-BA66-6DDABD44C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1828800"/>
            <a:ext cx="39959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Observado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7C667E15-2F1D-46AD-BBB6-7DEB2509D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2194560"/>
            <a:ext cx="3968496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Bono pie / arriendo garantizado.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DA134DA1-5AD3-4776-85A5-8BAD74CEC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2971800"/>
            <a:ext cx="4315968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9B0EA9D2-404C-4B5B-BEE6-495674A3B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2971800"/>
            <a:ext cx="54864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B54A4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65A4051D-42A9-45A9-8516-06AED4F84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3136392"/>
            <a:ext cx="39959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B54A43"/>
                </a:solidFill>
                <a:latin typeface="Segoe UI"/>
                <a:ea typeface="Segoe UI"/>
                <a:cs typeface="Segoe UI"/>
              </a:rPr>
              <a:t>Riesgo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DD61F0F3-B43C-48C7-8138-009107228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3502152"/>
            <a:ext cx="3968496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Ambigüedad si se generalizan condiciones.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6348C2A8-AB75-4465-8D0F-22FD44E73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4279392"/>
            <a:ext cx="4315968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1056EDDB-3255-4E11-A0DB-DC578A9B1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4279392"/>
            <a:ext cx="54864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B9FB24B5-2361-4BF6-B7C0-B97CFBEBB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4443983"/>
            <a:ext cx="39959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Mejora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B7B37D40-7C81-4204-ACF4-75FC0FF12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4809744"/>
            <a:ext cx="3968496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Vigencia + proyecto + condiciones.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7FC1B054-EA27-4B0C-90D9-81194D48B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98464"/>
            <a:ext cx="64008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30" b="0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Evidencia de revisión manual / material del levantamiento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D2F4E83E-9617-4B99-9615-EB6E3ED2F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9672"/>
            <a:ext cx="41148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3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INVIERTE360 · DIAGNÓSTICO Y ESTRATEGIA DIGITAL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C6378CD2-A3B3-4747-A1A4-2ADA6222C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92240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70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14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7dde87e58446f8"/>
          <a:stretch xmlns:a="http://schemas.openxmlformats.org/drawingml/2006/main"/>
        </p:blipFill>
        <p:spPr>
          <a:xfrm xmlns:a="http://schemas.openxmlformats.org/drawingml/2006/main">
            <a:off x="228600" y="6457950"/>
            <a:ext cx="190500" cy="19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43829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DFD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5786786-0AA2-45FE-A08C-C6A924A05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2770244E-8152-43EE-96D7-63965327C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PRIORIZACIÓN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F5D4E00-7750-4D3D-A773-839BE1BCD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85216"/>
            <a:ext cx="110642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Secuencia de implementación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0B7ADD13-1802-45E1-A5CF-0E866480E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91640"/>
            <a:ext cx="10881360" cy="6400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EFD98DC-E2AF-4399-A35E-06897C265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892808"/>
            <a:ext cx="5029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1">
                <a:solidFill>
                  <a:srgbClr val="B54A43"/>
                </a:solidFill>
                <a:latin typeface="Segoe UI"/>
                <a:ea typeface="Segoe UI"/>
                <a:cs typeface="Segoe UI"/>
              </a:rPr>
              <a:t>P0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6D4B036C-15E6-45D2-BCF1-293797EAC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865376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Validar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204DA44-DF3C-46EF-9B79-348790BE8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1865376"/>
            <a:ext cx="7498079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Formulario · CTA/anchors · estados críticos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FC88B1C3-6F5C-49E3-96B6-07CAF8251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532888"/>
            <a:ext cx="10881360" cy="6400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CF5D8B5E-443A-4984-B688-7B410F9CE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734056"/>
            <a:ext cx="5029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1">
                <a:solidFill>
                  <a:srgbClr val="B98A35"/>
                </a:solidFill>
                <a:latin typeface="Segoe UI"/>
                <a:ea typeface="Segoe UI"/>
                <a:cs typeface="Segoe UI"/>
              </a:rPr>
              <a:t>P1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51C8F953-0CD9-41AC-9C6A-95F4F5EF3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2706624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Recuperar contexto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66894305-3E6D-4122-8421-9182B1E78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2706624"/>
            <a:ext cx="7498079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WhatsApp · vendedor · taxonomías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55BAF811-6150-4E0B-9942-A31AB221D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374136"/>
            <a:ext cx="10881360" cy="6400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C965452B-0793-4521-BDB0-D521CCA8F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575304"/>
            <a:ext cx="5029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P2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75F6E3A5-2C97-493A-9353-18B1F5919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3547872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Conversión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EE009705-7B45-43D3-9D62-12653C153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3547872"/>
            <a:ext cx="7498079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Filtros · ficha · calculadora · confianza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2112BE52-2CC7-46F5-9195-053B0679A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215384"/>
            <a:ext cx="10881360" cy="6400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C4A64063-28D3-432B-B3F4-FAAED874A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416552"/>
            <a:ext cx="5029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P3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1C4E6CFE-AD0B-4C83-A42A-DFC23A85D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438912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Medición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066DCBCB-085F-4818-A0F6-2D7702DF3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4389120"/>
            <a:ext cx="7498079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Eventos · UTMs · recepción real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BA8F62AA-DEF2-46F8-A8A1-E6A9BE05B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056632"/>
            <a:ext cx="10881360" cy="6400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A4BACDE1-C5CB-479D-A3AE-BA4DE1C1D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257800"/>
            <a:ext cx="5029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P4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2C5ED5A9-4E9F-46CD-9355-3B69BFB3B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5230368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Escalar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0D8B7625-BA18-413E-A173-6CB6416CA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5230368"/>
            <a:ext cx="7498079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SEO técnico y campañas después de validar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B9E6683B-1DE4-4E45-A409-D00A7D514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9672"/>
            <a:ext cx="41148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3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INVIERTE360 · DIAGNÓSTICO Y ESTRATEGIA DIGITAL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1033416C-42CF-4F4E-9ED5-4FAE7CE3E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92240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70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15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80053ee0c44747"/>
          <a:stretch xmlns:a="http://schemas.openxmlformats.org/drawingml/2006/main"/>
        </p:blipFill>
        <p:spPr>
          <a:xfrm xmlns:a="http://schemas.openxmlformats.org/drawingml/2006/main">
            <a:off x="228600" y="6457950"/>
            <a:ext cx="190500" cy="19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56668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DFD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FF6685C-A299-4F13-BC11-915F2730C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91204D7-EEAE-4EAE-97E7-D330C0D7D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RECORRIDOS PROPUESTOS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61FA0B3B-1800-46AD-B5B5-FB0117DDD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85216"/>
            <a:ext cx="110642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No todos los usuarios tienen la misma intención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6F3494B2-3B5E-41D3-AFD3-9B319D963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783080"/>
            <a:ext cx="5257800" cy="14630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10142308-8AF1-4875-B935-C57709465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783080"/>
            <a:ext cx="54864" cy="14630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7C7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0EB35B5-FB40-4AD0-975B-CC42C4380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47672"/>
            <a:ext cx="49377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Inversionista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CB3C6AD3-29EA-4149-A07F-904E9D6A0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313432"/>
            <a:ext cx="4910328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Campaña/SEO → proyecto → simulación → WhatsApp/cotización → asesoría → Excel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3CAC806A-F707-4A3D-9DA9-94CDBE6B1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783080"/>
            <a:ext cx="5257800" cy="14630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176C4516-6D26-4E74-98DA-9D1354501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783080"/>
            <a:ext cx="54864" cy="14630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5F0BB65B-309F-413F-A2A8-340E2BAC9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947672"/>
            <a:ext cx="49377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Educación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74D02B1-82BF-4C0E-83F6-0ECE29233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313432"/>
            <a:ext cx="4910328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Contenido/calculadora → resultado → captura → proyectos compatibles → asesoría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9DA101D2-FEF7-4555-A389-A5EF16644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11880"/>
            <a:ext cx="5257800" cy="14630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E9BA9C55-9624-4976-8D3B-8B99ADC60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11880"/>
            <a:ext cx="54864" cy="14630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B98A3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094D3976-BB2A-4C35-8F32-4DD441A89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776472"/>
            <a:ext cx="49377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B98A35"/>
                </a:solidFill>
                <a:latin typeface="Segoe UI"/>
                <a:ea typeface="Segoe UI"/>
                <a:cs typeface="Segoe UI"/>
              </a:rPr>
              <a:t>Propietario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970ADCB0-4CED-4B95-B7F1-6CBEC55A7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142232"/>
            <a:ext cx="4910328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Vende tu propiedad → formulario específico → evaluación → contacto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87FB5C52-3D9D-4278-8910-566750DE9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11880"/>
            <a:ext cx="5257800" cy="14630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6FDE1D54-D7F1-4436-B065-C15537DBA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11880"/>
            <a:ext cx="54864" cy="14630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B54A4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78648811-9192-4AD9-A5FA-4B5E32B89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3776472"/>
            <a:ext cx="49377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B54A43"/>
                </a:solidFill>
                <a:latin typeface="Segoe UI"/>
                <a:ea typeface="Segoe UI"/>
                <a:cs typeface="Segoe UI"/>
              </a:rPr>
              <a:t>Recuperación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0CF0F740-9055-41C2-9CD5-E1A1A2CF6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142232"/>
            <a:ext cx="4910328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Visita sin conversión → remarketing → proyecto/landing → contacto contextual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BE09CC48-FBA8-4A09-8BE3-9AD1E215E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9672"/>
            <a:ext cx="41148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3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INVIERTE360 · DIAGNÓSTICO Y ESTRATEGIA DIGITAL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3F92CDA8-DF6A-413E-9CE6-3C8BCC04C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92240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70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16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90fecb95f6464f"/>
          <a:stretch xmlns:a="http://schemas.openxmlformats.org/drawingml/2006/main"/>
        </p:blipFill>
        <p:spPr>
          <a:xfrm xmlns:a="http://schemas.openxmlformats.org/drawingml/2006/main">
            <a:off x="228600" y="6457950"/>
            <a:ext cx="190500" cy="19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86788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DFD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4AFB13E-92CD-4588-8839-A374D04AA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5EDE4C6-FDA0-4E25-9D35-F5F818560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MEDICIÓN PROPUESTA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AF097453-134A-470F-BF69-28CFABAD9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85216"/>
            <a:ext cx="110642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Eventos recomendados, pendientes de validación interna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1FA96349-5FB0-4F11-BC19-EA65AF908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783080"/>
            <a:ext cx="3383280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31E12E3-524F-48D6-983B-27CA4F7DC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2093976"/>
            <a:ext cx="30632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view_project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45A5791B-725B-46B3-A363-A822F5296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783080"/>
            <a:ext cx="3383280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2D39F44B-3DAA-4ECB-BD26-1DCCA6468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7992" y="2093976"/>
            <a:ext cx="30632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search_projects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5CDBAE24-29B6-40E5-8021-16F77A705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1783080"/>
            <a:ext cx="3383280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86357CC8-2630-4D3E-AE22-2C46A0E58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7031" y="2093976"/>
            <a:ext cx="30632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use_calculator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6999D5E4-6BE6-4913-8B69-6B85BE2BF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108960"/>
            <a:ext cx="3383280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2715FE69-2F21-45CE-B8D3-B6E163A44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3419856"/>
            <a:ext cx="30632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click_whatsapp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935020F2-FCD0-4C07-9E73-258878992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108960"/>
            <a:ext cx="3383280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428CACA0-DBD3-4839-8DDF-848954A4A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7992" y="3419856"/>
            <a:ext cx="30632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generate_lead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12420465-1DD4-4571-849E-6C2B47375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3108960"/>
            <a:ext cx="3383280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C7EF3CA5-B836-4DC1-87A2-DB6C69DAA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7031" y="3419856"/>
            <a:ext cx="30632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schedule_meeting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882871A1-2C9A-4758-9F9F-A2321F55D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617720"/>
            <a:ext cx="10881360" cy="8229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03095FEC-2984-4F8B-8A99-368C27B67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873752"/>
            <a:ext cx="103784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50" b="1">
                <a:solidFill>
                  <a:srgbClr val="B54A43"/>
                </a:solidFill>
                <a:latin typeface="Segoe UI"/>
                <a:ea typeface="Segoe UI"/>
                <a:cs typeface="Segoe UI"/>
              </a:rPr>
              <a:t>Hipótesis a comprobar: una conversión basada solo en el mensaje de éxito podría contarse aunque el contacto no llegue.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74544243-9822-4F05-B17A-C217ACC48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9672"/>
            <a:ext cx="41148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3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INVIERTE360 · DIAGNÓSTICO Y ESTRATEGIA DIGITAL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5D6C5A8D-E15E-49CD-8463-AA812966F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92240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70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17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15399be1c1419b"/>
          <a:stretch xmlns:a="http://schemas.openxmlformats.org/drawingml/2006/main"/>
        </p:blipFill>
        <p:spPr>
          <a:xfrm xmlns:a="http://schemas.openxmlformats.org/drawingml/2006/main">
            <a:off x="228600" y="6457950"/>
            <a:ext cx="190500" cy="19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824260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DFD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9457D81-FCDD-4DA3-BE58-32E61B07C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9A1C7A14-F1CC-42CE-9DA5-7B1725C81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BENCHMARK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86E2BA2-89DA-4E72-AC3B-F7A2D1E08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85216"/>
            <a:ext cx="110642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Aprender del recorrido, no copiar interfaces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EAA8159C-09FC-4F22-A090-62B4FE07B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28800"/>
            <a:ext cx="3383280" cy="19202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9027FEE9-2071-479C-AF16-FF680F63C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28800"/>
            <a:ext cx="54864" cy="19202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7C7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8149FF9-E644-4E87-BE15-D1197545F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59" y="1993392"/>
            <a:ext cx="3063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Houm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72F966C3-94B5-474A-9043-99891BB8F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59" y="2359152"/>
            <a:ext cx="3035808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Catálogo + datos/proyecciones + asesoría.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6890538E-3D18-4316-B70B-40EE7F540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1828800"/>
            <a:ext cx="3383280" cy="19202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14491CE6-E327-48D2-AF4C-10DE05ED8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1828800"/>
            <a:ext cx="54864" cy="19202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EA65AC12-EEF4-42A8-80FE-4B8A99AC6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93392"/>
            <a:ext cx="3063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Propital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9DB35FAE-65F1-4C8C-874B-EE9C6748C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59152"/>
            <a:ext cx="3035808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Filtros amplios y navegación por criterios.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5F0E192B-1E13-4885-A9B5-C5CB865F7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59" y="1828800"/>
            <a:ext cx="3383280" cy="19202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EA06214A-D0CA-4084-8E0A-C5CF41F96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59" y="1828800"/>
            <a:ext cx="54864" cy="19202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C7A9C332-8604-4E00-BAF2-35754C483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39" y="1993392"/>
            <a:ext cx="3063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Capitalizarme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E08D86B8-ACE2-4BDA-B466-64C818466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39" y="2359152"/>
            <a:ext cx="3035808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Perfil/capacidad + inversión + reunión.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B0C6F633-E796-4E8F-9ECA-A04782729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251960"/>
            <a:ext cx="1088136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FBB6F7A0-D4BD-4C4B-9366-22D86AA02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53712"/>
            <a:ext cx="10241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PROYECTO  →  NÚMEROS / CAPACIDAD  →  ASESORÍA CON CONTEXTO  →  SEGUIMIENTO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507B94B8-BBD7-43BB-A05F-1806579F7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577840"/>
            <a:ext cx="10698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Aplicación: mantener WhatsApp + Excel, pero recibir un lead mejor identificado.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3CDF183A-33E1-4821-A0FB-3394C8B0C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9672"/>
            <a:ext cx="41148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3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INVIERTE360 · DIAGNÓSTICO Y ESTRATEGIA DIGITAL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8BA912AC-CA0A-43AE-95C8-EEE5FA61F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92240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70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18</a:t>
            </a:r>
          </a:p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be5abe0ede410a"/>
          <a:stretch xmlns:a="http://schemas.openxmlformats.org/drawingml/2006/main"/>
        </p:blipFill>
        <p:spPr>
          <a:xfrm xmlns:a="http://schemas.openxmlformats.org/drawingml/2006/main">
            <a:off x="228600" y="6457950"/>
            <a:ext cx="190500" cy="19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81501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DFD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C78FA26-3C5D-465C-9315-05B41E1D3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E714B7C2-8001-4E26-BC7B-8FC87E108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SIGUIENTE FASE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ABC4286F-64E8-4C64-A52B-A50654F12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85216"/>
            <a:ext cx="110642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La plataforma se define tras la auditoría técnica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40A81C5C-1CE1-47E1-B6E6-26E054884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828800"/>
            <a:ext cx="3429000" cy="2011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15D21A65-FFCC-4EA3-B892-B37569D51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828800"/>
            <a:ext cx="54864" cy="2011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7C7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853363B-ED14-4D25-8469-2A4B6B2CB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93392"/>
            <a:ext cx="31089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WordPress optimizado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9A64D6B-A827-4EDA-9FFF-E0C5124BE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359152"/>
            <a:ext cx="3081528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Menor migración si la base es estable.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4F8B372C-DA48-4F4F-9A2A-20593D806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1688" y="1828800"/>
            <a:ext cx="3429000" cy="2011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59964A26-372C-4A13-AA5F-34BC6568F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1688" y="1828800"/>
            <a:ext cx="54864" cy="2011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875CBCC0-1BB9-4CA5-9463-D403A9033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4568" y="1993392"/>
            <a:ext cx="31089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Next.js + CMS y base de datos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BB684718-A8FC-4372-956F-5C3D8AD18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4568" y="2359152"/>
            <a:ext cx="3081528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Mayor control, pero exige migración y administración.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21B79C9B-327B-4AC1-A199-7AEF7A066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9016" y="1828800"/>
            <a:ext cx="3429000" cy="2011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83AC0B54-1AD3-4425-A554-AA54BD21E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9016" y="1828800"/>
            <a:ext cx="54864" cy="2011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B98A3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C87A840A-9677-470C-A6ED-8915E2B65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1993392"/>
            <a:ext cx="31089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B98A35"/>
                </a:solidFill>
                <a:latin typeface="Segoe UI"/>
                <a:ea typeface="Segoe UI"/>
                <a:cs typeface="Segoe UI"/>
              </a:rPr>
              <a:t>Next + WP headless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B40DDB8A-8200-4A86-89DD-31D36F42C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2359152"/>
            <a:ext cx="3081528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WP como backend + frontend desacoplado; más integración.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93B29134-AFBE-4D76-9531-AC991680A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4840"/>
            <a:ext cx="106984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Hoy no existe acceso suficiente para recomendar una migración como conclusión del diagnóstico.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6A4E3CA4-D1D7-4FC8-BBF4-872E3ED03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6360"/>
            <a:ext cx="10698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Fase 0 futura: WordPress · hosting · SMTP · datos · tracking · SEO · seguridad · costo de mantener vs. migrar.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A72069DD-14D1-40CA-8892-3FB622210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9672"/>
            <a:ext cx="41148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3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INVIERTE360 · DIAGNÓSTICO Y ESTRATEGIA DIGITAL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E25B4045-7F8F-4886-92FE-4F97BAA62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92240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70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19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7b522c82d74f3d"/>
          <a:stretch xmlns:a="http://schemas.openxmlformats.org/drawingml/2006/main"/>
        </p:blipFill>
        <p:spPr>
          <a:xfrm xmlns:a="http://schemas.openxmlformats.org/drawingml/2006/main">
            <a:off x="228600" y="6457950"/>
            <a:ext cx="190500" cy="19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85222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DFD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781F512-E1F4-4221-8F1E-DFB64F8DC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EA9D3FB0-BF3B-4B20-B5AE-0241A4026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9436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1">
                <a:solidFill>
                  <a:srgbClr val="65D2C5"/>
                </a:solidFill>
                <a:latin typeface="Segoe UI"/>
                <a:ea typeface="Segoe UI"/>
                <a:cs typeface="Segoe UI"/>
              </a:rPr>
              <a:t>PROPUESTA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7996744-3F09-47B4-AA67-3362AAB4E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143000"/>
            <a:ext cx="1060704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334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5334A"/>
                </a:solidFill>
                <a:latin typeface="Arial"/>
                <a:ea typeface="Arial"/>
                <a:cs typeface="Arial"/>
              </a:rPr>
              <a:t>Diagnóstico y Estrategia Digital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49FFA681-A056-454F-8D0B-6BF1F1BC8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331720"/>
            <a:ext cx="3337560" cy="1828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D482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4685E94-5AF6-42CE-8CDC-A78F061A9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633472"/>
            <a:ext cx="28803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65D2C5"/>
                </a:solidFill>
                <a:latin typeface="Segoe UI"/>
                <a:ea typeface="Segoe UI"/>
                <a:cs typeface="Segoe UI"/>
              </a:rPr>
              <a:t>01 · Informe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189336C0-BB7F-4DC3-A827-0D8D52891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154680"/>
            <a:ext cx="28803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Respaldo metodológico, hallazgos, impacto, prioridades y recomendaciones.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54DF042B-835C-41DD-9AF4-B44DDDFCE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1688" y="2331720"/>
            <a:ext cx="3337560" cy="1828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314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758018DC-5A0D-4B89-ACB2-A7D582CAB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33472"/>
            <a:ext cx="28803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65D2C5"/>
                </a:solidFill>
                <a:latin typeface="Segoe UI"/>
                <a:ea typeface="Segoe UI"/>
                <a:cs typeface="Segoe UI"/>
              </a:rPr>
              <a:t>02 · Presentación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6C7E939D-54B9-418C-8B3F-340E9B39D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54680"/>
            <a:ext cx="28803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Versión ejecutiva y visual del diagnóstico.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D31996C5-B08D-417F-840C-31BE44815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5008" y="2331720"/>
            <a:ext cx="3337560" cy="1828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D482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C7A4AF1D-1646-48A9-B305-F96817328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19" y="2633472"/>
            <a:ext cx="28803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65D2C5"/>
                </a:solidFill>
                <a:latin typeface="Segoe UI"/>
                <a:ea typeface="Segoe UI"/>
                <a:cs typeface="Segoe UI"/>
              </a:rPr>
              <a:t>03 · Roadmap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02E6682A-04F3-45BA-BAC9-89EC9D020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19" y="3154680"/>
            <a:ext cx="28803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Orden recomendado para validación e implementación posterior.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80D96092-D5CE-48F0-8419-185B65696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892040"/>
            <a:ext cx="10698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2464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2464E"/>
                </a:solidFill>
                <a:latin typeface="Arial"/>
                <a:ea typeface="Arial"/>
                <a:cs typeface="Arial"/>
              </a:rPr>
              <a:t>VALOR DEL PAQUETE  ·  $100.000 CLP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918351EE-2D15-4FB4-9C74-28B2183D8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623560"/>
            <a:ext cx="10698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La implementación técnica es una etapa independiente y se define después de validar accesos y alcance.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77196D7C-9677-4546-AF05-9BD4B561B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9672"/>
            <a:ext cx="41148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3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INVIERTE360 · DIAGNÓSTICO Y ESTRATEGIA DIGITAL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247FACA9-8AA9-43E6-97AE-BAB5AA31C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92240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70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20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19fddbe2b44082"/>
          <a:stretch xmlns:a="http://schemas.openxmlformats.org/drawingml/2006/main"/>
        </p:blipFill>
        <p:spPr>
          <a:xfrm xmlns:a="http://schemas.openxmlformats.org/drawingml/2006/main">
            <a:off x="228600" y="6457950"/>
            <a:ext cx="190500" cy="19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47145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DFD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2A0AABB-5880-4C03-A8C7-84FBC11C2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14D7947-0C0A-4704-B38D-FA6496CEA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9436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1">
                <a:solidFill>
                  <a:srgbClr val="65D2C5"/>
                </a:solidFill>
                <a:latin typeface="Segoe UI"/>
                <a:ea typeface="Segoe UI"/>
                <a:cs typeface="Segoe UI"/>
              </a:rPr>
              <a:t>SIGUIENTE PASO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B0D89CCD-075C-4E07-8A61-5EF1E1B7C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280160"/>
            <a:ext cx="1060704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334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5334A"/>
                </a:solidFill>
                <a:latin typeface="Arial"/>
                <a:ea typeface="Arial"/>
                <a:cs typeface="Arial"/>
              </a:rPr>
              <a:t>La prioridad es convertir el interés en contactos medibles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F3DCA34-C485-4DC7-B035-E3FC625D8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24028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La propuesta mejora seis momentos del recorrido: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1A3A210A-CF0D-4107-AF4E-C115A2453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880360"/>
            <a:ext cx="306324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314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5FEBE06-8FA8-459C-A2E7-CE7412502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59" y="3081528"/>
            <a:ext cx="2743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¿de dónde llegó?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4CDC8C0C-126B-4DFE-9983-968F6D5D2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7368" y="2880360"/>
            <a:ext cx="306324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314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233AC033-ECF9-486C-BBBA-D62FE410F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959" y="3081528"/>
            <a:ext cx="2743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¿qué buscó?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78CFB373-F625-419B-A307-92CD6C2A4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6368" y="2880360"/>
            <a:ext cx="306324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314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AF294126-612E-422C-BEF8-169B91E1C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3081528"/>
            <a:ext cx="2743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¿qué le interesó?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5CC66BBB-4C71-4A2F-8496-2981B8B2B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931920"/>
            <a:ext cx="306324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314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35CAC305-FB76-4D48-A78E-CF7D55AF8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59" y="4133087"/>
            <a:ext cx="2743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¿cómo contactó?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BAA650DF-EA16-4C7F-B203-75B0963F7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7368" y="3931920"/>
            <a:ext cx="306324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314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5061B103-434B-408B-8353-446ECA1ED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959" y="4133087"/>
            <a:ext cx="2743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¿el contacto llegó?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454F84DA-CED5-4F2E-A6DB-8A5528F95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6368" y="3931920"/>
            <a:ext cx="306324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314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892399DC-17FB-40AB-A096-D90370436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133087"/>
            <a:ext cx="2743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¿qué pasó después?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66E7201A-03A0-46BD-898E-84B3F3A85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440680"/>
            <a:ext cx="10698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>
                <a:solidFill>
                  <a:srgbClr val="65D2C5"/>
                </a:solidFill>
                <a:latin typeface="Segoe UI"/>
                <a:ea typeface="Segoe UI"/>
                <a:cs typeface="Segoe UI"/>
              </a:rPr>
              <a:t>Aprobar el paquete presentado · $100.000 CLP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4544A735-83E0-4303-B97B-657808C51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263640"/>
            <a:ext cx="106984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0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Carlos Lozano · Desarrollo web · UX/UI · Conversión · Analítica técnica · SEO técnico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9A54BBD8-78A1-46C7-B465-DA6544A85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9672"/>
            <a:ext cx="41148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3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INVIERTE360 · DIAGNÓSTICO Y ESTRATEGIA DIGITAL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8F2AD17A-02EA-4B07-A9F5-1F0FAC4DB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92240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70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21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506aaba2cf40b5"/>
          <a:stretch xmlns:a="http://schemas.openxmlformats.org/drawingml/2006/main"/>
        </p:blipFill>
        <p:spPr>
          <a:xfrm xmlns:a="http://schemas.openxmlformats.org/drawingml/2006/main">
            <a:off x="228600" y="6457950"/>
            <a:ext cx="190500" cy="190500"/>
          </a:xfrm>
          <a:prstGeom xmlns:a="http://schemas.openxmlformats.org/drawingml/2006/main" prst="rect">
            <a:avLst/>
          </a:prstGeom>
        </p:spPr>
      </p:pic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dcd93fc4584ce6"/>
          <a:stretch xmlns:a="http://schemas.openxmlformats.org/drawingml/2006/main"/>
        </p:blipFill>
        <p:spPr>
          <a:xfrm xmlns:a="http://schemas.openxmlformats.org/drawingml/2006/main">
            <a:off x="10306050" y="5222190"/>
            <a:ext cx="742950" cy="85227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747105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2026-09-30T02:53:33.0920000Z</dcterms:created>
  <dcterms:modified xsi:type="dcterms:W3CDTF">2026-09-30T02:53:33.0920000Z</dcterms:modified>
</coreProperties>
</file>